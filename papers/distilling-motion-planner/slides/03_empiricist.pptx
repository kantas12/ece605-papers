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seats empty, so this deck is not longer than the others. Ranks are balanced.</a:t>
            </a:r>
          </a:p>
          <a:p>
            <a:pPr/>
            <a:r>
              <a:t>• Authoritative order: distilling-motion-planner-2111.06383-ablations.md, ranks 1–7.</a:t>
            </a:r>
          </a:p>
          <a:p>
            <a:pPr/>
            <a:r>
              <a:t>• Y primary: #1 planner-on vs distill, #2 BC-Visual vs MoPA-PD, #4 smoothing on/off.</a:t>
            </a:r>
          </a:p>
          <a:p>
            <a:pPr/>
            <a:r>
              <a:t>• Partial: #3 DR, #5 init. Cite: #6 α, #7 sub-optimal teacher.</a:t>
            </a:r>
          </a:p>
          <a:p>
            <a:pPr/>
            <a:r>
              <a:t>• N: full 3-task × 5-seed × 3M; fresh long MoPA-RL; real-robot critic fine-tune.</a:t>
            </a:r>
          </a:p>
          <a:p>
            <a:pPr/>
            <a:r>
              <a:t>• The PDF reports BC wall-clock only (Table 8). No GPU/RAM for full 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spine — say this before the role-specific argument.</a:t>
            </a:r>
          </a:p>
          <a:p>
            <a:pPr/>
            <a:r>
              <a:t>• Privileged classical MP (RRT-Connect) at train inside MoPA-RL (Yamada 2020) → visual BC (smooths jitter, drops the planner) → MoPA-PD asymmetric SAC → planner-free pixels at deploy.</a:t>
            </a:r>
          </a:p>
          <a:p>
            <a:pPr/>
            <a:r>
              <a:t>• Must-cites: Push 100 / 32.0 / 110.8 (ASR/AEL/ADR). Assembly 0 without BC smoothing vs 100 with. DR ≥ 96.7 sim-to-sim; Lift Scenario 1 is the worst cell. Expert Push AEL 111 vs Ours 32.</a:t>
            </a:r>
          </a:p>
          <a:p>
            <a:pPr/>
            <a:r>
              <a:t>• NOT an ancestor of ACT, Diffusion Policy, or VLAs (π₀ / OpenVLA / OXE). CLEAR contrast poles only. NOT a JEPA / LeWM / Cosmos child.</a:t>
            </a:r>
          </a:p>
          <a:p>
            <a:pPr/>
            <a:r>
              <a:t>• Sim-only Sawyer MuJoCo, 32×32 images. Real robot is future work in the conclusion. Refuse to launder domain randomization into sim-to-real.</a:t>
            </a:r>
          </a:p>
          <a:p>
            <a:pPr/>
            <a:r>
              <a:t>• Preserve paper numbers only. Do not invent BEHAVIOR success rates or a real-robot SR.</a:t>
            </a:r>
          </a:p>
          <a:p>
            <a:pPr/>
            <a:r>
              <a:t>• Empiricist use: paper numbers stay citations. Your runs are labeled smoke. Never paste a smoke ASR into a Table 1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Minimum package: #1 + #2 + #4, then partial #3 and #5, then cite #6 and #7.</a:t>
            </a:r>
          </a:p>
          <a:p>
            <a:pPr/>
            <a:r>
              <a:t>• One task. Push is easiest. Assembly is the smoothing moral — cite it, or a 1-seed stub. Do not pretend a full Assembly 3M run.</a:t>
            </a:r>
          </a:p>
          <a:p>
            <a:pPr/>
            <a:r>
              <a:t>• Lift is the BC-vs-full ASR moral (62 vs 99). On Push, judge #2 by AEL and ADR.</a:t>
            </a:r>
          </a:p>
          <a:p>
            <a:pPr/>
            <a:r>
              <a:t>• Falsifiers: MoPA-Asym ≥ Ours; BC AEL ≤ Ours when both succeed; raw Re ≥ smooth; DR collapses; random init matches BC init; large α wins; distill needs a perfect teacher.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Rank 1. Table 1, Fig. 3, §4.4.</a:t>
            </a:r>
          </a:p>
          <a:p>
            <a:pPr/>
            <a:r>
              <a:t>• Ours ASR 100/99/100. MoPA-Asym 0/0/0. MoPA-RL 98.2/95.0/99.8. Push AEL 32.0 vs 111.0.</a:t>
            </a:r>
          </a:p>
          <a:p>
            <a:pPr/>
            <a:r>
              <a:t>• Pass: smoke ASR well above Asym. SAC; AEL directionally below teacher or BC; MP calls at inference = 0.</a:t>
            </a:r>
          </a:p>
          <a:p>
            <a:pPr/>
            <a:r>
              <a:t>• If RRT will not install, run Asym. SAC and cite the paper’s MoPA-Asym zero. Do not fake a planner stack.</a:t>
            </a:r>
          </a:p>
          <a:p>
            <a:pPr/>
            <a:r>
              <a:t>• Log ASR, AEL, ADR, EE jerk, MP calls, Re source, init, log α, peak VRAM.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Rank 2. One task.</a:t>
            </a:r>
          </a:p>
          <a:p>
            <a:pPr/>
            <a:r>
              <a:t>• Authors: BC is decent on Push and Assembly, not on Lift, and has high AEL / low ADR because it is bounded by the demos. Ours goes beyond the expert.</a:t>
            </a:r>
          </a:p>
          <a:p>
            <a:pPr/>
            <a:r>
              <a:t>• Pass: MoPA-PD AEL &lt; BC AEL when both succeed, or ASR much higher on a Lift-like task.</a:t>
            </a:r>
          </a:p>
          <a:p>
            <a:pPr/>
            <a:r>
              <a:t>• BC: ~1M pairs, 100 expert trajs, 9:1 split, lr 5e-4, batch 512, select by validation success.</a:t>
            </a:r>
          </a:p>
          <a:p>
            <a:pPr/>
            <a:r>
              <a:t>• BC wall-clock only: 30 / 39 / 120 min. That is not the RL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Rank 4 is still a primary smoke. The integer is the bot’s focus mix; steering says smoothing is primary. Do not demote it.</a:t>
            </a:r>
          </a:p>
          <a:p>
            <a:pPr/>
            <a:r>
              <a:t>• Fig. 8: blue BC, orange MoPA-RL, green start, red end. Qualitative. Log your own jerk. Do not digitize this figure into fake millimeters.</a:t>
            </a:r>
          </a:p>
          <a:p>
            <a:pPr/>
            <a:r>
              <a:t>• Lift without smoothing is ASR 99.4 vs 99.0 with, AEL 43.6 vs 42.0. Smoothing does not win every cell. It wins Assembly, variance, and convergence.</a:t>
            </a:r>
          </a:p>
          <a:p>
            <a:pPr/>
            <a:r>
              <a:t>• CoL with smoothing does not inherit the Assembly win. Do not move the result onto a different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Partial on purpose.</a:t>
            </a:r>
          </a:p>
          <a:p>
            <a:pPr/>
            <a:r>
              <a:t>• Table 2 ASR: original 99.7/99.3/100; Scenario 1 100/96.7/100; Scenario 2 99.3/97.3/100. Quote AEL/ADR too if the table is on screen.</a:t>
            </a:r>
          </a:p>
          <a:p>
            <a:pPr/>
            <a:r>
              <a:t>• App. C: texture, color, lighting each episode. Fig. 10 is more samples, not new numbers.</a:t>
            </a:r>
          </a:p>
          <a:p>
            <a:pPr/>
            <a:r>
              <a:t>• Scenario 1: unseen blue/magenta cubes, walls, floor, furniture. Scenario 2 adds table size and textures.</a:t>
            </a:r>
          </a:p>
          <a:p>
            <a:pPr/>
            <a:r>
              <a:t>• Init needs the MoPA critic. Without that checkpoint, cite Fig. 7. Do not substitute a random pretrained encoder and call it this ablation.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Cite. Fold α into primary logs if you want a breadcrumb. Do not center the course on a sweep.</a:t>
            </a:r>
          </a:p>
          <a:p>
            <a:pPr/>
            <a:r>
              <a:t>• Sweep in the paper: log α ∈ {0.5, 0, −3, −10, −20, −40}.</a:t>
            </a:r>
          </a:p>
          <a:p>
            <a:pPr/>
            <a:r>
              <a:t>• Lift @ 0.52M: MoPA-RL 60.6, Ours 99.4, AEL 42.9, ADR 101.0. Don’t round 41.4 to 40.</a:t>
            </a:r>
          </a:p>
          <a:p>
            <a:pPr/>
            <a:r>
              <a:t>• Push @ 1.0M in Table 4a matches main Ours: 100 / 32.0 / 110.8.</a:t>
            </a:r>
          </a:p>
          <a:p>
            <a:pPr/>
            <a:r>
              <a:t>• Low α is dangerous if the teacher is wrong. Table 4 is not an adversarial-teacher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B. If a smoke changes a knob, write it in the log header.</a:t>
            </a:r>
          </a:p>
          <a:p>
            <a:pPr/>
            <a:r>
              <a:t>• MoPA-RL nets: 3× FC-256 ReLU. Visual: 3-layer CNN, 3× FC-256 LeakyReLU, Gaussian head.</a:t>
            </a:r>
          </a:p>
          <a:p>
            <a:pPr/>
            <a:r>
              <a:t>• BC scheduler step 5, decay 0.99 (Table 6). Skipping it means you did not match Table 8.</a:t>
            </a:r>
          </a:p>
          <a:p>
            <a:pPr/>
            <a:r>
              <a:t>• Assembly task source: IKEA furniture env, Lee, Hu, Lim, ICRA 2021.</a:t>
            </a:r>
          </a:p>
          <a:p>
            <a:pPr/>
            <a:r>
              <a:t>• Code pointer from the abstract: clvrai.com/mopa-pd. Pin a commit. Frozen demos if MuJoCo/RRT will not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Planning envelopes in the quiet deliverable are estimates, not paper measurements: BC ingest on the order of an hour; primary smokes hours to a day; full 3-task paper multi-day. Do not cite them as Liu et al.</a:t>
            </a:r>
          </a:p>
          <a:p>
            <a:pPr/>
            <a:r>
              <a:t>• If the job asks for a GPU and the node has none, fail. Do not silently compare a CPU fallback to Table 1.</a:t>
            </a:r>
          </a:p>
          <a:p>
            <a:pPr/>
            <a:r>
              <a:t>• Club pass: documented #1 and #2 and/or #4, directional, MP@infer = 0, knobs logged.</a:t>
            </a:r>
          </a:p>
          <a:p>
            <a:pPr/>
            <a:r>
              <a:t>• Reject your own note if it says “reproduced Assembly 100%, 5 seeds.”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row per run.</a:t>
            </a:r>
          </a:p>
          <a:p>
            <a:pPr/>
            <a:r>
              <a:t>• MP calls at inference: the architecture claims zero; the log proves the run you executed.</a:t>
            </a:r>
          </a:p>
          <a:p>
            <a:pPr/>
            <a:r>
              <a:t>• If you only have smoothed demos, you cannot claim rank 4. Say so.</a:t>
            </a:r>
          </a:p>
          <a:p>
            <a:pPr/>
            <a:r>
              <a:t>• Changing γ voids ADR comparisons. Paper γ is 0.99.</a:t>
            </a:r>
          </a:p>
          <a:p>
            <a:pPr/>
            <a:r>
              <a:t>• Laundry sentence: Table 2 is zero-shot across MuJoCo scenes. The authors defer sim-to-real. A color jitter smoke has not crossed that deferral.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 3 caption: all methods trained 3M steps; MoPA-dependent methods use 1M MoPA-RL then 2M visual. Ours has the highest discounted return. Without BC smoothing, two tasks solve more slowly and Assembly fails.</a:t>
            </a:r>
          </a:p>
          <a:p>
            <a:pPr/>
            <a:r>
              <a:t>• A smoke that stops at a few hundred thousand steps can still falsify “Asym. SAC is competitive early.” It cannot confirm the 3M ordering.</a:t>
            </a:r>
          </a:p>
          <a:p>
            <a:pPr/>
            <a:r>
              <a:t>• If you plot, plot your seeds only. Do not trace the paper’s curves into the same file and present them as your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One-liner: quote 100/32.0/110.8, Assembly 0 without BC smooth, and &gt;96% DR — and refuse to launder sim-to-sim into sim-to-real.</a:t>
            </a:r>
          </a:p>
          <a:p>
            <a:pPr/>
            <a:r>
              <a:t>• Expert Push AEL 111 vs 32 belongs in the same breath, or the triple is misread as success rate only.</a:t>
            </a:r>
          </a:p>
          <a:p>
            <a:pPr/>
            <a:r>
              <a:t>• BC Lift ASR 62.0 is the number people forget when they say cloning already solved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37744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ECFB4"/>
                </a:solidFill>
                <a:latin typeface="IBM Plex Sans"/>
              </a:rPr>
              <a:t>DEC 9  ·  ALTERNATIVE APPROACHES  ·  EMPIRICIST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530352"/>
            <a:ext cx="1124712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4F1EA"/>
                </a:solidFill>
                <a:latin typeface="IBM Plex Serif"/>
              </a:rPr>
              <a:t>Smoke the knives.
Do not reprint Table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920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8B3C2"/>
                </a:solidFill>
                <a:latin typeface="IBM Plex Sans"/>
              </a:rPr>
              <a:t>Balanced pack. Ablation Bot ranks 1–7. Primary smokes: planner removal, BC vs MoPA-PD, BC smoothing. Not a 3M × 5 × 3 rerun.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788920"/>
            <a:ext cx="1627632" cy="15544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907792"/>
            <a:ext cx="162763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310128"/>
            <a:ext cx="151790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Planner 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794760"/>
            <a:ext cx="151790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66544" y="2788920"/>
            <a:ext cx="1627632" cy="15544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66544" y="2907792"/>
            <a:ext cx="162763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3310128"/>
            <a:ext cx="151790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BC vs full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3794760"/>
            <a:ext cx="151790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40" y="2788920"/>
            <a:ext cx="1627632" cy="15544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2907792"/>
            <a:ext cx="162763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#4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3904" y="3310128"/>
            <a:ext cx="151790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Smoothing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3904" y="3794760"/>
            <a:ext cx="151790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31536" y="2788920"/>
            <a:ext cx="1627632" cy="15544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31536" y="2907792"/>
            <a:ext cx="162763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#3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10128"/>
            <a:ext cx="151790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794760"/>
            <a:ext cx="151790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Partial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14032" y="2788920"/>
            <a:ext cx="1627632" cy="15544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2" y="2907792"/>
            <a:ext cx="162763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#5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896" y="3310128"/>
            <a:ext cx="151790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Init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8896" y="3794760"/>
            <a:ext cx="151790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Partial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96528" y="2788920"/>
            <a:ext cx="1627632" cy="15544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96528" y="2907792"/>
            <a:ext cx="162763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8B3C2"/>
                </a:solidFill>
                <a:latin typeface="IBM Plex Mono"/>
              </a:rPr>
              <a:t>#6 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1392" y="3310128"/>
            <a:ext cx="151790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Cite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1392" y="3794760"/>
            <a:ext cx="151790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B3C2"/>
                </a:solidFill>
                <a:latin typeface="IBM Plex Sans"/>
              </a:rPr>
              <a:t>cite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79024" y="2788920"/>
            <a:ext cx="1627632" cy="15544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79024" y="2907792"/>
            <a:ext cx="162763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8B3C2"/>
                </a:solidFill>
                <a:latin typeface="IBM Plex Mono"/>
              </a:rPr>
              <a:t>#7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33888" y="3310128"/>
            <a:ext cx="151790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Subopt.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33888" y="3794760"/>
            <a:ext cx="151790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B3C2"/>
                </a:solidFill>
                <a:latin typeface="IBM Plex Sans"/>
              </a:rPr>
              <a:t>cite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" y="4572000"/>
            <a:ext cx="11247120" cy="1691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4F1EA"/>
                </a:solidFill>
                <a:latin typeface="IBM Plex Sans"/>
              </a:rPr>
              <a:t>Pass: directional morals on #1 and #2 and/or #4, with motion-planner calls at inference logged as 0.
Fail: writing “we reproduced CoRL Table 1” off a Push-lite run.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SHARED SPINE  ·  TATTOO ON EVERY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Five facts that do not change with the seat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33856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43584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207008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Train privilege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499616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Classical MP (RRT-Connect) lives inside MoPA-RL (Yamada et al., CoRL 2020). Geometry and the planner are train-time infrastructure, not the shipped controller.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57984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67712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231136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Distill, then smooth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523744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Visual BC on direct-action rollouts removes the planner and smooths RRT jitter. MoPA-PD then runs asymmetric SAC: actor from BC, critic from MoPA-RL Q, Re:Rπ = 1:3, small α.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182112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91840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255264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Deploy is planner-free pixels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547872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Inference is a 32×32 image plus joints. No RRT-Connect, no object state, no motion planner. The critic’s state privilege ends when training ends.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206240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15968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2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Numbers you must be able to say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572000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Push 100 / 32.0 / 110.8 (ASR / AEL / ADR). Assembly 0 without BC-smooth vs 100 with. DR ≥ 96.7 sim-to-sim (Lift Scenario 1 is worst). Expert Push AEL 111 vs Ours 32.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230368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340096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303520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What this paper is not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596128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Not an ancestor of ACT, Diffusion Policy, π₀, OpenVLA, or OXE — contrast poles only. Not a JEPA / LeWM / Cosmos child. Sim-only Sawyer. Do not launder DR into sim-to-real.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ABLATION BOT  ·  RANKS 1–7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What to run, what to cite, what to refuse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15568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115568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115568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1EA"/>
                </a:solidFill>
                <a:latin typeface="IBM Plex Sans"/>
              </a:rPr>
              <a:t>Planner-on vs distill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115568"/>
            <a:ext cx="96012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115568"/>
            <a:ext cx="64008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Ours 100/99/100. MoPA-Asym 0/0/0. Push AEL 32 vs 111.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1865376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1865376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1865376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1EA"/>
                </a:solidFill>
                <a:latin typeface="IBM Plex Sans"/>
              </a:rPr>
              <a:t>BC-Visual vs MoPA-PD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1865376"/>
            <a:ext cx="96012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1865376"/>
            <a:ext cx="64008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BC 99.4/62.0/97.0. AEL ~108–118 vs 32/42/61.7.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2615184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615184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615184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1EA"/>
                </a:solidFill>
                <a:latin typeface="IBM Plex Sans"/>
              </a:rPr>
              <a:t>Domain-rand zero-shot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615184"/>
            <a:ext cx="96012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Part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615184"/>
            <a:ext cx="64008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All ASR &gt;96. Worst: Lift Scenario 1 = 96.7. No non-DR control.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3364991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3364991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364991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1EA"/>
                </a:solidFill>
                <a:latin typeface="IBM Plex Sans"/>
              </a:rPr>
              <a:t>BC smoothing on/off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364991"/>
            <a:ext cx="96012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364991"/>
            <a:ext cx="64008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Assembly 0.0 without, 100.0 with. Fig. 8 is the jitter picture.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114800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114800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114800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1EA"/>
                </a:solidFill>
                <a:latin typeface="IBM Plex Sans"/>
              </a:rPr>
              <a:t>Weight init on/off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4114800"/>
            <a:ext cx="96012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Part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114800"/>
            <a:ext cx="64008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≈0 until 1.2M without. ≈1.0 before 1.0M with.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" y="4864607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4864607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8B3C2"/>
                </a:solidFill>
                <a:latin typeface="IBM Plex Mono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864607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1EA"/>
                </a:solidFill>
                <a:latin typeface="IBM Plex Sans"/>
              </a:rPr>
              <a:t>Entropy coefficient 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4864607"/>
            <a:ext cx="96012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8B3C2"/>
                </a:solidFill>
                <a:latin typeface="IBM Plex Sans"/>
              </a:rPr>
              <a:t>Cite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4864607"/>
            <a:ext cx="64008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Smaller log α is faster. Teacher −0.63 / −2.7 / −0.29.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048" y="5614416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5614416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8B3C2"/>
                </a:solidFill>
                <a:latin typeface="IBM Plex Mono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614416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1EA"/>
                </a:solidFill>
                <a:latin typeface="IBM Plex Sans"/>
              </a:rPr>
              <a:t>Sub-optimal expert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5614416"/>
            <a:ext cx="96012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8B3C2"/>
                </a:solidFill>
                <a:latin typeface="IBM Plex Sans"/>
              </a:rPr>
              <a:t>Cite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0" y="5614416"/>
            <a:ext cx="640080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Push 69.2→100. Lift 41.4→99.0 after 2M visual steps.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PRIMARY  ·  RANK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Planner-off distill vs planner-on controls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7726679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" y="2157603"/>
            <a:ext cx="7616952" cy="317373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83879" y="1115568"/>
            <a:ext cx="3611880" cy="5257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280160"/>
            <a:ext cx="3291840" cy="4937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#1 smoke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Matched-budget Push: MoPA-PD vs Asym. SAC. MoPA-Asym only if RRT actually runs.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Hard log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Planner calls at inference = 0. Image + joints only.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6A5A"/>
                </a:solidFill>
                <a:latin typeface="IBM Plex Sans"/>
              </a:rPr>
              <a:t>Paper moral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MoPA-Asym. SAC is 0 on all three. Keeping RRT in the visual loop is not the method.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A8B3C2"/>
                </a:solidFill>
                <a:latin typeface="IBM Plex Sans"/>
              </a:rPr>
              <a:t>Not required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Five-seed Assembly at 100%. That number stays a citation.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5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PRIMARY  ·  RANK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BC is not the paper. Stage 2 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3749039" cy="38862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98448"/>
            <a:ext cx="3429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691640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8B3C2"/>
                </a:solidFill>
                <a:latin typeface="IBM Plex Sans"/>
              </a:rPr>
              <a:t>BC-VISUAL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938528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Mono"/>
              </a:rPr>
              <a:t>99.4 / 118.0 / 46.9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14600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61488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100 / 32.0 / 110.8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34290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3C2"/>
                </a:solidFill>
                <a:latin typeface="IBM Plex Sans"/>
              </a:rPr>
              <a:t>ASR already high. AEL is the gap.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170432"/>
            <a:ext cx="3749039" cy="38862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1298448"/>
            <a:ext cx="3429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1691640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8B3C2"/>
                </a:solidFill>
                <a:latin typeface="IBM Plex Sans"/>
              </a:rPr>
              <a:t>BC-VISUAL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1938528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Mono"/>
              </a:rPr>
              <a:t>62.0 / 108.8 / 34.6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2514600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2761488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99.0 / 42.0 / 101.7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3383280"/>
            <a:ext cx="34290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3C2"/>
                </a:solidFill>
                <a:latin typeface="IBM Plex Sans"/>
              </a:rPr>
              <a:t>ASR is the gap. Stage 2 is required.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11312" y="1170432"/>
            <a:ext cx="3749039" cy="38862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75904" y="1298448"/>
            <a:ext cx="3429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ASSEMBLY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1691640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8B3C2"/>
                </a:solidFill>
                <a:latin typeface="IBM Plex Sans"/>
              </a:rPr>
              <a:t>BC-VISUAL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1938528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Mono"/>
              </a:rPr>
              <a:t>97.0 / 115.1 / 50.4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2514600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OURS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2761488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100 / 61.7 / 84.5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3383280"/>
            <a:ext cx="34290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3C2"/>
                </a:solidFill>
                <a:latin typeface="IBM Plex Sans"/>
              </a:rPr>
              <a:t>ASR high. Path quality is not.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5212080"/>
            <a:ext cx="113385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Smoke one task. On Push, an ASR tie is not failure — AEL and ADR must move. Lift makes the ASR moral cleaner. Do not run all three and call it Table 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6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PRIMARY  ·  RANK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Smoothing is the Assembly result. Smoke Push. Cite Assembly.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33856"/>
            <a:ext cx="694944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8_smoo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335566"/>
            <a:ext cx="6839712" cy="157421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98079" y="1133856"/>
            <a:ext cx="4297680" cy="3977639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280160"/>
            <a:ext cx="3977639" cy="3657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Single factor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4F1EA"/>
                </a:solidFill>
                <a:latin typeface="IBM Plex Sans"/>
              </a:rPr>
              <a:t>Re = BC-smoothed trajectories versus Re = raw MoPA-RL.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6A5A"/>
                </a:solidFill>
                <a:latin typeface="IBM Plex Sans"/>
              </a:rPr>
              <a:t>Assembly, paper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4F1EA"/>
                </a:solidFill>
                <a:latin typeface="IBM Plex Mono"/>
              </a:rPr>
              <a:t>0 / 250 / 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4F1EA"/>
                </a:solidFill>
                <a:latin typeface="IBM Plex Mono"/>
              </a:rPr>
              <a:t>vs  100 / 61.7 / 84.5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Push, paper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Both hit ASR 100. AEL 34.0 vs 32.0. Speed and variance are the smoke signal, not a zero.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5257800"/>
            <a:ext cx="1133856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Pass on Push: smoothed Re ≥ raw on ASR or steps-to-threshold, and jerk or path length drops. Do not report Assembly 100% unless Assembly was run.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PARTIAL  ·  RANKS 3 AND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DR lite and init. Directional. Not a second paper.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33856"/>
            <a:ext cx="580644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4_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43975"/>
            <a:ext cx="5696712" cy="140292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55080" y="1133856"/>
            <a:ext cx="544068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7_in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430421"/>
            <a:ext cx="5330952" cy="183002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84048" y="3749039"/>
            <a:ext cx="5650992" cy="26060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3749039"/>
            <a:ext cx="64008" cy="260604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85876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#3 DR — Partial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151376"/>
            <a:ext cx="5358383" cy="20939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Short DR on Push. Eval original vs a distractor stub. Paper moral: every Table 2 cell ≥ 96.7. There is no non-DR column. Pass = OOD holds up, not “we hit 96.7.”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5" y="3749039"/>
            <a:ext cx="5650992" cy="26060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5" y="3749039"/>
            <a:ext cx="64008" cy="2606040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385876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#5 init — Partial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4151376"/>
            <a:ext cx="5358383" cy="20939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Same budget, init on vs off. Prose: ~0 until 1.2M without; ≈1.0 before 1.0M with. Early-stop is fine. Log steps-to-first-success. Do not claim 1.2M unless you ran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8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CITE  ·  RANKS 6 AND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α and a weak teacher. Quote the PDF. Don’t grid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736092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b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1785476"/>
            <a:ext cx="7251192" cy="391798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818120" y="1115568"/>
            <a:ext cx="3977639" cy="5257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280160"/>
            <a:ext cx="3657600" cy="4937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8A838"/>
                </a:solidFill>
                <a:latin typeface="IBM Plex Sans"/>
              </a:rPr>
              <a:t>#6  α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Table 3, log α after MoPA-RL: Push −0.63, Lift −2.7, Assembly −0.29.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Visual stage starts lower, to exploit the prior. Figs. 5–6 are qualitative. No per-α ASR table — do not make one.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ECFB4"/>
                </a:solidFill>
                <a:latin typeface="IBM Plex Sans"/>
              </a:rPr>
              <a:t>#7  weak expert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Push @ 0.2M: 69.2 → Ours 100, AEL 34.4.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Lift @ 0.5M: 41.4 → Ours 99.0, AEL 42.0, after 2M visual steps.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Only if an early checkpoint already exists. Do not retrain a long teacher for #7.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LOCK THESE BEFORE YOU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Paper knobs. A smoke may shorten steps. It may not retune the story.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Image and SAC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32×32. Adam lr 1e-5. γ 0.99. Batch 256. Replay 1e6. The SAC table uses one network update per env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BC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lr 5e-4. Batch 512. ~1M pairs. 9:1 split. 100 expert trajectories. Select by validation success, not test MSE.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Mix and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Re:Rπ = 1:3. Action dim 7 on Push and Assembly, 8 on Lift. Reward scales 0.8 / 0.5 / 1.0. Success &lt; 0.05. Bonus +150. Horizon 250.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What “3M” means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Teacher 1M + visual phase 2M when the teacher is required. Five seeds. 100 episodes each. That is the paper. It is not the smoke.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HONESTY 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A course smoke is not the CoRL protocol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11430000" cy="15087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E8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6A5A"/>
                </a:solidFill>
                <a:latin typeface="IBM Plex Sans"/>
              </a:rPr>
              <a:t>NEVER CLAIM TABLE 1 FROM A PUSH-LITE SMOKE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9164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Paper scale is 3M steps × 5 seeds × 3 tasks, on top of a planner teacher. A short single-seed Push run can support a direction. It cannot support a cell.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2880360"/>
            <a:ext cx="5650992" cy="1673351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2880360"/>
            <a:ext cx="64008" cy="1673351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99008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Label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282696"/>
            <a:ext cx="5358383" cy="11612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Put “smoke” in the filename and the first log line. Paper numbers stay in a citation column.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2880360"/>
            <a:ext cx="5650992" cy="1673351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5" y="2880360"/>
            <a:ext cx="64008" cy="1673351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99008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Frozen teacher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3282696"/>
            <a:ext cx="5358383" cy="11612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Prefer cached MoPA-RL demos. A from-scratch RRT teacher is out of scope.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4681727"/>
            <a:ext cx="5650992" cy="1673351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4681727"/>
            <a:ext cx="64008" cy="1673351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791455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No hardware fanfic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084064"/>
            <a:ext cx="5358383" cy="11612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The PDF has BC minutes only. Do not invent GPU hours or a real-robot success rate.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5" y="4681727"/>
            <a:ext cx="5650992" cy="1673351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63055" y="4681727"/>
            <a:ext cx="64008" cy="1673351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4791455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5084064"/>
            <a:ext cx="5358383" cy="11612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ASR without AEL and ADR hides the result. Log all three, plus planner calls at inference.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LOGGING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If it is not in the log, it is not a 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Task, seed, step budget, image size, frozen teacher or not.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6720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6720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9600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Privilege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9600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Planner calls at inference. Critic inputs. Init on or off.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9391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9391" y="1170432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2271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Buffer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2271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Re source = BC or raw. Mix 1:3 or otherwise. Expert trajectory count.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ASR, AEL, ADR. Steps to first success. Jerk or path length. Peak VRAM.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36720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36720" y="3840480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9600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9600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log α at start and end. Do not grid it until #1–#4 are logged.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9391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9391" y="3840480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2271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DR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2271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Train factors. Test scene id. Never the words sim-to-real.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FIG. 3 IS NOT YOUR SMOKE PLOT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Do not overlay a short run and call it a match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52144"/>
            <a:ext cx="7498079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3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1" y="2918598"/>
            <a:ext cx="7388352" cy="167917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46720" y="1152144"/>
            <a:ext cx="3749039" cy="5212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353312"/>
            <a:ext cx="3429000" cy="4846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ECFB4"/>
                </a:solidFill>
                <a:latin typeface="IBM Plex Sans"/>
              </a:rPr>
              <a:t>Paper curves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4F1EA"/>
                </a:solidFill>
                <a:latin typeface="IBM Plex Sans"/>
              </a:rPr>
              <a:t>0 to 3M steps. Five seeds in the table. MoPA-RL takes the first 1M when it is in the method.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A838"/>
                </a:solidFill>
                <a:latin typeface="IBM Plex Sans"/>
              </a:rPr>
              <a:t>Your curves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4F1EA"/>
                </a:solidFill>
                <a:latin typeface="IBM Plex Sans"/>
              </a:rPr>
              <a:t>Different x-axis until you have actually run 3M. Label the axis in environment steps, and label the run smoke.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6A5A"/>
                </a:solidFill>
                <a:latin typeface="IBM Plex Sans"/>
              </a:rPr>
              <a:t>What you may say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8B3C2"/>
                </a:solidFill>
                <a:latin typeface="IBM Plex Sans"/>
              </a:rPr>
              <a:t>“Direction matches Fig. 3: distilled policy above asymmetric SAC.” You may not say “we reproduced Fig. 3.”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FB4"/>
                </a:solidFill>
                <a:latin typeface="IBM Plex Sans"/>
              </a:rPr>
              <a:t>Empiricist   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EMPIRICIST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Quote these. Refuse the rest.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1965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100 / 32.0 / 110.8.   Assembly 0 without BC smoothing, 100 with.   DR worst cell 96.7 — and it is still simulation.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657600"/>
            <a:ext cx="5650992" cy="26517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3657600"/>
            <a:ext cx="64008" cy="2651760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76732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059936"/>
            <a:ext cx="5358383" cy="21396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#1 planner-off, #2 BC vs full, #4 smooth vs raw. Partial #3 and #5 only if the checkpoints exist.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5" y="3657600"/>
            <a:ext cx="5650992" cy="26517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5" y="3657600"/>
            <a:ext cx="64008" cy="2651760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376732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Do not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4059936"/>
            <a:ext cx="5358383" cy="21396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3M × 5 × 3. A fresh long teacher. A real robot. A BEHAVIOR score you do not have.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MoPA-PD — Empiricist</dc:title>
  <dc:subject>CoRL 2021 arXiv 2111.06383 · Alternative approaches · Dec 9</dc:subject>
  <dc:creator>Liu*, Uppal*, Sukhatme, Lim, Englert, Lee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