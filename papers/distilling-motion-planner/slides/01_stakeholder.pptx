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open.</a:t>
            </a:r>
          </a:p>
          <a:p>
            <a:pPr/>
            <a:r>
              <a:t>• Paper: Distilling Motion Planner Augmented Policies into Visual Control Policies. MoPA-PD. arXiv 2111.06383. CoRL 2021. Code: clvrai.com/mopa-pd.</a:t>
            </a:r>
          </a:p>
          <a:p>
            <a:pPr/>
            <a:r>
              <a:t>• Authors, equal first: I-Chun Arthur Liu* and Shagun Uppal*; Sukhatme, Lim, Englert, Lee. USC CLVR + RESL.</a:t>
            </a:r>
          </a:p>
          <a:p>
            <a:pPr/>
            <a:r>
              <a:t>• Seat: Dec 9, Alternative approaches. All seats empty — equal depth. Not a foundation-model prehistory talk.</a:t>
            </a:r>
          </a:p>
          <a:p>
            <a:pPr/>
            <a:r>
              <a:t>• One-liner: lock the privileged-MP → vision-student alternative before pure VLA weeks. Buy the pattern, not the 2021 Sawyer checkpoint.</a:t>
            </a:r>
          </a:p>
          <a:p>
            <a:pPr/>
            <a:r>
              <a:t>• Chips are Table 1 and Table 2, not estimates. Fig. 2 is Push, Lift, Assembly in MuJoCo — not a household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Privileged classical MP (RRT-Connect) at train inside MoPA-RL (Yamada 2020) → visual BC (smooths jitter, drops the planner) → MoPA-PD asymmetric SAC → planner-free pixels at deploy.</a:t>
            </a:r>
          </a:p>
          <a:p>
            <a:pPr/>
            <a:r>
              <a:t>• Must-cites: Push 100 / 32.0 / 110.8 (ASR/AEL/ADR). Assembly 0 without BC smoothing vs 100 with. DR ≥ 96.7 sim-to-sim; Lift Scenario 1 is the worst cell. Expert Push AEL 111 vs Ours 32.</a:t>
            </a:r>
          </a:p>
          <a:p>
            <a:pPr/>
            <a:r>
              <a:t>• NOT an ancestor of ACT, Diffusion Policy, or VLAs (π₀ / OpenVLA / OXE). CLEAR contrast poles only. NOT a JEPA / LeWM / Cosmos child.</a:t>
            </a:r>
          </a:p>
          <a:p>
            <a:pPr/>
            <a:r>
              <a:t>• Sim-only Sawyer MuJoCo, 32×32 images. Real robot is future work in the conclusion. Refuse to launder domain randomization into sim-to-real.</a:t>
            </a:r>
          </a:p>
          <a:p>
            <a:pPr/>
            <a:r>
              <a:t>• Preserve paper numbers only. Do not invent BEHAVIOR success rates or a real-robot SR.</a:t>
            </a:r>
          </a:p>
          <a:p>
            <a:pPr/>
            <a:r>
              <a:t>• Stakeholder use: these five lines are the buying brief. The rest is when to buy, when to walk, and which risks you will not paper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schedule MoPA-PD under Alternative approaches.</a:t>
            </a:r>
          </a:p>
          <a:p>
            <a:pPr/>
            <a:r>
              <a:t>• Clean story for “why not only VLA-from-demo?”: in heavily obstructed sim, privileged MP exploration makes the demos. Distillation is the productization step.</a:t>
            </a:r>
          </a:p>
          <a:p>
            <a:pPr/>
            <a:r>
              <a:t>• HIGH motion-planning / obstruction hook without a full TAMP stack. Do not overclaim hierarchy.</a:t>
            </a:r>
          </a:p>
          <a:p>
            <a:pPr/>
            <a:r>
              <a:t>• Asym. SAC is 0/0/0 (Assembly ADR 3.4 only). MoPA-Asym. SAC is 0/0/0. Putting the planner inside a visual loop is not enough.</a:t>
            </a:r>
          </a:p>
          <a:p>
            <a:pPr/>
            <a:r>
              <a:t>• MoPA-RL state expert ASR is already 98.2 / 95.0 / 99.8. The extra claim is a visual policy with better path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Fig. 1 left to right. Do not skip Stage 0.</a:t>
            </a:r>
          </a:p>
          <a:p>
            <a:pPr/>
            <a:r>
              <a:t>• Stage 0: enlarged action Ã. Direct band is small joint deltas. Larger deltas invoke RRT-Connect (Kuffner &amp; LaValle) for collision-free paths. State SAC.</a:t>
            </a:r>
          </a:p>
          <a:p>
            <a:pPr/>
            <a:r>
              <a:t>• Stage 1: rollouts stored in direct action space. Visual BC by MSE. Side effect the paper insists on: BC smooths jitter, because the planner optimizes avoidance, not smoothness.</a:t>
            </a:r>
          </a:p>
          <a:p>
            <a:pPr/>
            <a:r>
              <a:t>• BC still has covariate shift (Ross et al.). Stage 2 is required.</a:t>
            </a:r>
          </a:p>
          <a:p>
            <a:pPr/>
            <a:r>
              <a:t>• Stage 2: deployed actor is image + joints. Critic sees full state only in sim. Init: actor ← BC, critic ← MoPA-RL Q, legal because MoPA-RL’s action space supersets direct actions.</a:t>
            </a:r>
          </a:p>
          <a:p>
            <a:pPr/>
            <a:r>
              <a:t>• SAC samples Re and the agent buffer at 1:3. α starts lower than MoPA-RL’s final α so the visual agent exploits the prior.</a:t>
            </a:r>
          </a:p>
          <a:p>
            <a:pPr/>
            <a:r>
              <a:t>• Re is BC trajectories, not raw planner data. Jitter in the replay is why Assembly 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 / walk. The left column is the only honest purchase.</a:t>
            </a:r>
          </a:p>
          <a:p>
            <a:pPr/>
            <a:r>
              <a:t>• Buy: accurate sim geometry, vision-only deploy, clutter as the hard part. Pattern = MP or TAMP teacher → BC smooth → vision RL or IL.</a:t>
            </a:r>
          </a:p>
          <a:p>
            <a:pPr/>
            <a:r>
              <a:t>• Walk: abundant teleop or OXE-scale language tasks → ACT / Diffusion Policy / VLA. Complementary, not a successor, not an ancestor.</a:t>
            </a:r>
          </a:p>
          <a:p>
            <a:pPr/>
            <a:r>
              <a:t>• Walk: no collision geometry. Stage 0 cannot run.</a:t>
            </a:r>
          </a:p>
          <a:p>
            <a:pPr/>
            <a:r>
              <a:t>• No cited chain into π₀ or OpenVLA. Do not brief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sell raw success on Push.</a:t>
            </a:r>
          </a:p>
          <a:p>
            <a:pPr/>
            <a:r>
              <a:t>• Ours: Push 100.0/32.0/110.8. Lift 99.0/42.0/101.7. Assembly 100.0/61.7/84.5.</a:t>
            </a:r>
          </a:p>
          <a:p>
            <a:pPr/>
            <a:r>
              <a:t>• MoPA-RL Push 98.2/111.0/52.7. About 3.5× longer. ADR 52.7 vs 110.8.</a:t>
            </a:r>
          </a:p>
          <a:p>
            <a:pPr/>
            <a:r>
              <a:t>• BC-Visual: 99.4/118.0/46.9 · 62.0/108.8/34.6 · 97.0/115.1/50.4.</a:t>
            </a:r>
          </a:p>
          <a:p>
            <a:pPr/>
            <a:r>
              <a:t>• Horizon 250 is why failures show AEL 250. Eval: 5 seeds × 100 episodes after 3M steps (teacher 1M + distill 2M). γ=0.99. Success &lt; 0.05. Bonus +150.</a:t>
            </a:r>
          </a:p>
          <a:p>
            <a:pPr/>
            <a:r>
              <a:t>• You are buying a shorter visual policy, not a higher scoreboard on an already-solved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all four risks. Do not soften the first.</a:t>
            </a:r>
          </a:p>
          <a:p>
            <a:pPr/>
            <a:r>
              <a:t>• §5: fine-tuning in the real world with a vision critic, or sim-to-real techniques, is “definite future work.”</a:t>
            </a:r>
          </a:p>
          <a:p>
            <a:pPr/>
            <a:r>
              <a:t>• DR randomizes texture, color, lighting. Test scenes add distractors, walls, furniture, table size. Still MuJoCo. Still Sawyer.</a:t>
            </a:r>
          </a:p>
          <a:p>
            <a:pPr/>
            <a:r>
              <a:t>• Visual actor: 3-layer CNN, 3× FC-256, LeakyReLU, 32×32. Transfer the recipe, not the representation.</a:t>
            </a:r>
          </a:p>
          <a:p>
            <a:pPr/>
            <a:r>
              <a:t>• Do not propose “just run SAC on the robot.” The critic story does not survive that sentence.</a:t>
            </a:r>
          </a:p>
          <a:p>
            <a:pPr/>
            <a:r>
              <a:t>• Pitch: clutter-exploration prior. Not a competitor to π₀-scale generalists.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picture is the whole argument: textures and distractors inside MuJoCo.</a:t>
            </a:r>
          </a:p>
          <a:p>
            <a:pPr/>
            <a:r>
              <a:t>• Table 2 ASR Push/Lift/Assembly. Original 99.7/99.3/100.0. Scenario 1: 100.0/96.7/100.0. Scenario 2: 99.3/97.3/100.0.</a:t>
            </a:r>
          </a:p>
          <a:p>
            <a:pPr/>
            <a:r>
              <a:t>• Push Scenario 2 ADR is printed 99.04. Quote that precision if you read the cell.</a:t>
            </a:r>
          </a:p>
          <a:p>
            <a:pPr/>
            <a:r>
              <a:t>• No non-DR control column. Do not invent a “without DR” delta.</a:t>
            </a:r>
          </a:p>
          <a:p>
            <a:pPr/>
            <a:r>
              <a:t>• Sentence: we bought appearance robustness in simulation. We did not buy sim-to-real.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only. Do not invent descent.</a:t>
            </a:r>
          </a:p>
          <a:p>
            <a:pPr/>
            <a:r>
              <a:t>• ACT and Diffusion Policy: human/teleop demos. MoPA-PD demos come from a privileged MP-RL teacher.</a:t>
            </a:r>
          </a:p>
          <a:p>
            <a:pPr/>
            <a:r>
              <a:t>• π₀, OpenVLA, Open X-Embodiment: no cited chain. “Ancestor” is a false claim.</a:t>
            </a:r>
          </a:p>
          <a:p>
            <a:pPr/>
            <a:r>
              <a:t>• LeWM / JEPA / Cosmos are world-model poles. Mention only to refuse the filing. Do not build the talk on them.</a:t>
            </a:r>
          </a:p>
          <a:p>
            <a:pPr/>
            <a:r>
              <a:t>• RoboGen keeps MP primitives in the loop. MoPA-PD’s deploy story is the opposite: the planner leaves. Parallel, not a child.</a:t>
            </a:r>
          </a:p>
          <a:p>
            <a:pPr/>
            <a:r>
              <a:t>• Ross, Gordon, Bagnell 2011 is the shared covariate-shift citation with the DAgger family. Methods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buy.</a:t>
            </a:r>
          </a:p>
          <a:p>
            <a:pPr/>
            <a:r>
              <a:t>• Product line: a sim distillation factory. Spend privileged MP + state to mint visual policies that no longer carry planner latency or state sensors.</a:t>
            </a:r>
          </a:p>
          <a:p>
            <a:pPr/>
            <a:r>
              <a:t>• Table 8: Push 12 epochs / 30 min; Lift 13 / 39; Assembly 24 / 120. Selection is first epoch at 100% validation success, not lowest test MSE (Fig. 9).</a:t>
            </a:r>
          </a:p>
          <a:p>
            <a:pPr/>
            <a:r>
              <a:t>• Do not quote a GPU-hour number for the full paper. It is not in the PDF.</a:t>
            </a:r>
          </a:p>
          <a:p>
            <a:pPr/>
            <a:r>
              <a:t>• “Does this replace our VLA?” No. “Can a planner in sim teach a vision policy for clutter?” Inside MuJoCo, this paper’s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2, Yamada et al. tasks, re-used. MuJoCo, Sawyer 7-DoF, 32×32, horizon 250.</a:t>
            </a:r>
          </a:p>
          <a:p>
            <a:pPr/>
            <a:r>
              <a:t>• Do not generalize the picture into a kitchen. It is a box, a can, and a table.</a:t>
            </a:r>
          </a:p>
          <a:p>
            <a:pPr/>
            <a:r>
              <a:t>• Assembly is Lee, Hu, Lim, ICRA 2021 furniture assembly — one insert, not a BEHAVIOR activity.</a:t>
            </a:r>
          </a:p>
          <a:p>
            <a:pPr/>
            <a:r>
              <a:t>• Stakeholder use: name which task matches the buyer’s clutter. If none do, you are selling an analogy, and you should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language. Read the don’t column last so it sticks.</a:t>
            </a:r>
          </a:p>
          <a:p>
            <a:pPr/>
            <a:r>
              <a:t>• The three say-lines are Table 1 and Table 2, scoped.</a:t>
            </a:r>
          </a:p>
          <a:p>
            <a:pPr/>
            <a:r>
              <a:t>• If a stakeholder asks for a robot video, the honest answer is: the authors list real fine-tuning as future work. The project page is clvrai.com/mopa-pd; do not promise it contains a real-robot result you have not watched.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on the one-liner. Do not add a roadmap.</a:t>
            </a:r>
          </a:p>
          <a:p>
            <a:pPr/>
            <a:r>
              <a:t>• Follow-up experiments belong to the Empiricist seat: a smoke is not Table 1.</a:t>
            </a:r>
          </a:p>
          <a:p>
            <a:pPr/>
            <a:r>
              <a:t>• “Is this how π₀ was trained?” No.</a:t>
            </a:r>
          </a:p>
          <a:p>
            <a:pPr/>
            <a:r>
              <a:t>• Project page, from the abstract: https://clvrai.com/mopa-pd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DEC 9  ·  ALTERNATIVE APPROACHES  ·  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1792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1EA"/>
                </a:solidFill>
                <a:latin typeface="IBM Plex Serif"/>
              </a:rPr>
              <a:t>Buy the pattern,
not the checkpoint.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31720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MoPA-PD turns a privileged motion planner into a visual policy you can ship without it. Liu*, Uppal*, Sukhatme, Lim, Englert, Lee — CoRL 2021.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6576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657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Push  100 / 32.0 / 110.8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65760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3E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6576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FB4"/>
                </a:solidFill>
                <a:latin typeface="IBM Plex Sans"/>
              </a:rPr>
              <a:t>Assembly  0 →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3657600"/>
            <a:ext cx="2148840" cy="365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8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DR ≥ 96.7  sim-to-sim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160520"/>
            <a:ext cx="69037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Sim has geometry. Deploy is vision. Clutter is the hard part. That is the buy. The 2021 Sawyer 32×32 checkpoint is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143000"/>
            <a:ext cx="3977639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2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984" y="3049012"/>
            <a:ext cx="3867911" cy="1125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Classical MP (RRT-Connect) lives inside MoPA-RL (Yamada et al., CoRL 2020). Geometry and the planner are train-time infrastructure, not the shipped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Distill, then smooth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Visual BC on direct-action rollouts removes the planner and smooths RRT jitter. MoPA-PD then runs asymmetric SAC: actor from BC, critic from MoPA-RL Q, Re:Rπ = 1:3, small 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is planner-free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Inference is a 32×32 image plus joints. No RRT-Connect, no object state, no motion planner. The critic’s state privilege ends when training 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Numbers you must be able to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Push 100 / 32.0 / 110.8 (ASR / AEL / ADR). Assembly 0 without BC-smooth vs 100 with. DR ≥ 96.7 sim-to-sim (Lift Scenario 1 is worst). Expert Push AEL 111 vs Ours 32.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A838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What this paper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an ancestor of ACT, Diffusion Policy, π₀, OpenVLA, or OXE — contrast poles only. Not a JEPA / LeWM / Cosmos child. Sim-only Sawyer. Do not launder DR into sim-to-real.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WHY THIS SEAT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Classical robotics is still a training superpower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Obstructed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Sparse contact around boxes and furniture is where pure visual SAC dies. Table 1: Asym. SAC and MoPA-Asym. SAC are 0. A planner that can see geometry is how the demos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Productization, not the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MoPA-RL already solves the tasks in state space. MoPA-PD’s job is to throw the planner and the mesh away at deploy, and to shorten the path while doing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Not a TAMP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 distillation recipe for obstructed visuomotor control. Not a hierarchical planner library and not a BEHAVIOR skill API. Teach the pattern; do not assign the repo as the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The alternative to demo-only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When teleop and OXE-scale data are thin and sim geometry is honest, privileged exploration beats waiting for more human demos. That is the Alternative-approaches argument.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1  ·  THE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Spend privilege in sim. Ship pixels.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1293739"/>
            <a:ext cx="11320272" cy="35481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5074920"/>
            <a:ext cx="3724656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5074920"/>
            <a:ext cx="64008" cy="1371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18464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Stage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77256"/>
            <a:ext cx="343204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MoPA-RL SAC. Small Δq is direct. Large Δq calls RRT-Connect. Full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5074920"/>
            <a:ext cx="3724656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5074920"/>
            <a:ext cx="64008" cy="13716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518464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Stage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5477256"/>
            <a:ext cx="343204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Visual BC, MSE, 32×32. Drops the planner. Smoothed rollouts become the expert buffer 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5074920"/>
            <a:ext cx="3724656" cy="1371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5074920"/>
            <a:ext cx="64008" cy="1371600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518464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5477256"/>
            <a:ext cx="343204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Asymmetric SAC. Actor from pixels. Critic from state. Init, low α, 1:3 mix.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BUY / WALK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Buy when geometry, vision deploy, and clutter line 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5577840" cy="43891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IBM Plex Sans"/>
              </a:rPr>
              <a:t>BUY THE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783080"/>
            <a:ext cx="516636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Sim collision geometry is real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An RRT, TAMP, or MoPA-style teacher can run offline. If the mesh is a lie, Stage 0 dies.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must be vision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No planner latency and no object-state sensor on the robot. That is the product constraint.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Clutter is the bottleneck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Reach into a box, lift out, insert among obstacles. Pure visual RL does not explore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170432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170432"/>
            <a:ext cx="5669280" cy="43891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WALK TO ANOTHER POLE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83080"/>
            <a:ext cx="525780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Abundant teleop or OXE-scale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Prefer ACT, Diffusion Policy, or a VLA. MoPA-PD is a sim recipe, not a replacement head.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No reliable collision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Nothing privileged to distill. Do not invent a planner to justify the pipeline.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Cross-embodiment generality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One Sawyer in MuJoCo. Use the idea. Do not ship the checkpoint.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TABLE 1  ·  THE EFFICIENCY 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Same success. Much shorter paths than the expert.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74523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246757"/>
            <a:ext cx="7342632" cy="305943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01000" y="117043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35331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PUSH AEL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7830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1EA"/>
                </a:solidFill>
                <a:latin typeface="IBM Plex Serif"/>
              </a:rPr>
              <a:t>111 → 32.0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514600"/>
            <a:ext cx="347472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Expert MoPA-RL vs MoPA-PD. Push ADR moves 52.7 → 110.8. The policy is not cloning the planner. It is shorter.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977639"/>
            <a:ext cx="347472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ASR is the wrong headline on Push and Assembly: BC-Visual is already 99.4 and 97.0. The buy is AEL / ADR, plus Lift (BC 62 → 99).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RISKS YOU WILL OWN IF YOU BUY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Four costs the abstract does not waive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Sim-only. Tax unpaid.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The conclusion names real-world fine-tune and a vision critic as future work. Table 2 is sim-to-sim. Do not brief this as a robot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32×32, one 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Sawyer 7-DoF, MuJoCo, three tasks, tiny RGB. Not wrist cameras, not multi-embodiment, not a household camera stack.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Stage 0 is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You need a working MoPA-RL or another MP teacher, plus collision checks. Frozen demos are the practical path. The planner is not free.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The critic is still privileged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Asymmetric actor-critic (Pinto et al.) sees full state while learning. “Vision-only” is an inference claim, not a training claim.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4 + TABLE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Robust in sim. Not a sim-to-real receipt.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1143000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81" y="1207008"/>
            <a:ext cx="8651332" cy="21305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3520440"/>
            <a:ext cx="75895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" y="4035026"/>
            <a:ext cx="7479792" cy="18054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3520440"/>
            <a:ext cx="3675887" cy="2834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 NOT LAUNDER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3375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Worst cell is Lift, Scenario 1: ASR 96.7. The paper’s claim is &gt;96% on three unseen sim scenarios. Appearance shift is not a real robot.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CONTRAST POLES  ·  NOT A FAMILY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Where modern stacks win, say so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ACT / ALOHA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Chunked CVAE cloning from human teleop. Different data, different action interface. Use it when demonstrations are what you actually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Diffusion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Generative action chunks from demos. Not a privileged-planner distill. Table 1 does not beat it — that baseline did not exist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π₀ / OpenVLA / OXE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Large multi-task vision-language-action. MoPA-PD is single-task sim distillation. No cited ancestry. Do not brief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DART, separately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DART labels recoveries by disturbing the expert. MoPA-PD amortizes a planner. Shared covariate-shift vocabulary. Not the same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WHAT THE PURCHASE ORDER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Pattern in. Checkpoint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An MP or TAMP teacher when sim geometry is trustworthy. BC smoothing before any RL buffer. A vision actor at deploy. Path length, not just success.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2021 32×32 weights. Online RRT on the robot. A claim that DR solved reality. Any sentence that starts “this is why VLAs work.”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Budget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Paper protocol: 3M steps × 5 seeds × 3 tasks, after a 1M-step teacher. The only printed times are BC (Table 8): 30 / 39 / 120 min. Full RL GPU time is unstated.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Fund the pattern on the next cluttered sim task that already has a mesh. Do not fund a Sawyer reproduction as a product milestone.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FIG. 2  ·  THE ONLY PRODUCT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Three obstructed Sawyer tasks. Nothing else was scored.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11430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65" y="1207008"/>
            <a:ext cx="10147964" cy="2953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4343400"/>
            <a:ext cx="3724656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343400"/>
            <a:ext cx="64008" cy="20116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4531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745736"/>
            <a:ext cx="3432048" cy="1499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Reach into a box. Push the red cube onto the green goal. ASR is easy for BC. Path length is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4343400"/>
            <a:ext cx="3724656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4343400"/>
            <a:ext cx="64008" cy="201168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44531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4745736"/>
            <a:ext cx="3432048" cy="1499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Reach, grasp, lift a can out without collisions. BC-Visual ASR falls to 62. Stage 2 earns its place.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4343400"/>
            <a:ext cx="3724656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4343400"/>
            <a:ext cx="64008" cy="201168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44531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4745736"/>
            <a:ext cx="3432048" cy="1499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Insert the fourth table leg among the other three. IKEA furniture env. Dies without BC smoothing.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LANGUAGE FOR THE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Sentences that survive contact with the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“Train-time RRT-Connect inside MoPA-RL, distilled to a visual policy.”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“Push episodes went from 111 steps to 32, at full success.”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Say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“Domain randomization held up in unseen sim scenes, worst cell 96.7.”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Don’t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“We have a sim-to-real manipulation system.”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Don’t say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“This is an early VLA / ACT / diffusion policy.”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Don’t say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“It works on BEHAVIOR.” Nothing in the paper ran that benchmark.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A838"/>
                </a:solidFill>
                <a:latin typeface="IBM Plex Sans"/>
              </a:rPr>
              <a:t>Stakeholder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838"/>
                </a:solidFill>
                <a:latin typeface="IBM Plex Sans"/>
              </a:rPr>
              <a:t>STAKEHOLDER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Say this, then stop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234440"/>
            <a:ext cx="11430000" cy="2880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ONE-LINER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097280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Lock the privileged-planner → vision-student alternative before the pure VLA weeks. Buy the pattern. Do not buy the 2021 Sawyer checkpoint.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97680"/>
            <a:ext cx="5650992" cy="2057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297680"/>
            <a:ext cx="64008" cy="20574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074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Remember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0016"/>
            <a:ext cx="5358383" cy="1545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Push 100 / 32.0 / 110.8. Assembly dies at 0 without BC smoothing.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4297680"/>
            <a:ext cx="5650992" cy="2057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5" y="4297680"/>
            <a:ext cx="64008" cy="205740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4074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Refuse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700016"/>
            <a:ext cx="5358383" cy="1545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Sim-to-sim DR is not sim-to-real. No invented robot success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MoPA-PD — Stakeholder</dc:title>
  <dc:subject>CoRL 2021 arXiv 2111.06383 · Alternative approaches · Dec 9</dc:subject>
  <dc:creator>Liu*, Uppal*, Sukhatme, Lim, Englert,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