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BEHAVIOR obstructed household is the assigned frame. Do not mention Discord channels, Drive folders, or uploads.</a:t>
            </a:r>
          </a:p>
          <a:p>
            <a:pPr/>
            <a:r>
              <a:t>• Durable sentence: when sim geometry is known, use classical MP or TAMP as a privileged teacher; distill to a vision policy that runs without that privilege.</a:t>
            </a:r>
          </a:p>
          <a:p>
            <a:pPr/>
            <a:r>
              <a:t>• Do not invent a BEHAVIOR ’26 baseline, a leaderboard number, or a real-robot success rate.</a:t>
            </a:r>
          </a:p>
          <a:p>
            <a:pPr/>
            <a:r>
              <a:t>• Fig. 2 is the proof object we have. The household story is an extrapolation. Say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Shared spine — say this before the role-specific argument.</a:t>
            </a:r>
          </a:p>
          <a:p>
            <a:pPr/>
            <a:r>
              <a:t>• Privileged classical MP (RRT-Connect) at train inside MoPA-RL (Yamada 2020) → visual BC (smooths jitter, drops the planner) → MoPA-PD asymmetric SAC → planner-free pixels at deploy.</a:t>
            </a:r>
          </a:p>
          <a:p>
            <a:pPr/>
            <a:r>
              <a:t>• Must-cites: Push 100 / 32.0 / 110.8 (ASR/AEL/ADR). Assembly 0 without BC smoothing vs 100 with. DR ≥ 96.7 sim-to-sim; Lift Scenario 1 is the worst cell. Expert Push AEL 111 vs Ours 32.</a:t>
            </a:r>
          </a:p>
          <a:p>
            <a:pPr/>
            <a:r>
              <a:t>• NOT an ancestor of ACT, Diffusion Policy, or VLAs (π₀ / OpenVLA / OXE). CLEAR contrast poles only. NOT a JEPA / LeWM / Cosmos child.</a:t>
            </a:r>
          </a:p>
          <a:p>
            <a:pPr/>
            <a:r>
              <a:t>• Sim-only Sawyer MuJoCo, 32×32 images. Real robot is future work in the conclusion. Refuse to launder domain randomization into sim-to-real.</a:t>
            </a:r>
          </a:p>
          <a:p>
            <a:pPr/>
            <a:r>
              <a:t>• Preserve paper numbers only. Do not invent BEHAVIOR success rates or a real-robot SR.</a:t>
            </a:r>
          </a:p>
          <a:p>
            <a:pPr/>
            <a:r>
              <a:t>• Visionary use: any 2026 recipe that drops BC smoothing, claims sim-to-real from Table 2, or calls MoPA-PD a VLA ancestor has left the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this frame.</a:t>
            </a:r>
          </a:p>
          <a:p>
            <a:pPr/>
            <a:r>
              <a:t>• “Delete the planner” is the twist versus systems that keep planning online (RelMoGen’s family; RoboGen as a later parallel).</a:t>
            </a:r>
          </a:p>
          <a:p>
            <a:pPr/>
            <a:r>
              <a:t>• Push AEL 111 → 32 is amortization, not just success: don’t waste the horizon weaving around a box.</a:t>
            </a:r>
          </a:p>
          <a:p>
            <a:pPr/>
            <a:r>
              <a:t>• Assembly 0 vs 100 warns any pipeline that dumps raw RRT into a modern data mix.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row is a proposal constrained by a paper fact.</a:t>
            </a:r>
          </a:p>
          <a:p>
            <a:pPr/>
            <a:r>
              <a:t>• A newer sampler than RRT-Connect is a substitute you would choose. It is not something Liu et al. ran. Mark it.</a:t>
            </a:r>
          </a:p>
          <a:p>
            <a:pPr/>
            <a:r>
              <a:t>• §5: real fine-tune with a vision critic, or sim-to-real techniques, is future work. Do not narrate that paragraph as done.</a:t>
            </a:r>
          </a:p>
          <a:p>
            <a:pPr/>
            <a:r>
              <a:t>• No BEHAVIOR category success rate exists in these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Fig. 4: (a) DR training, (b) original, (c) Scenario 1 distractors, (d) Scenario 2 size and texture.</a:t>
            </a:r>
          </a:p>
          <a:p>
            <a:pPr/>
            <a:r>
              <a:t>• ASR if challenged: original 99.7/99.3/100, Scenario 1 100/96.7/100, Scenario 2 99.3/97.3/100.</a:t>
            </a:r>
          </a:p>
          <a:p>
            <a:pPr/>
            <a:r>
              <a:t>• Mistake: “they already showed household clutter.” They showed visual distractors in the same task family.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TENTATIVE out loud.</a:t>
            </a:r>
          </a:p>
          <a:p>
            <a:pPr/>
            <a:r>
              <a:t>• CLEAR: a data/teacher role for classical MP, compatible with modern heads. Not a claim that MoPA-PD’s network should replace diffusion or flow heads.</a:t>
            </a:r>
          </a:p>
          <a:p>
            <a:pPr/>
            <a:r>
              <a:t>• Still tentative: clutter demos from an MP teacher, BC-smooth, then fine-tune a modern policy on those demos plus real shards.</a:t>
            </a:r>
          </a:p>
          <a:p>
            <a:pPr/>
            <a:r>
              <a:t>• Do not invent citations inside OpenVLA, π₀, or JEPA, or an official BEHAVIOR entry.</a:t>
            </a:r>
          </a:p>
          <a:p>
            <a:pPr/>
            <a:r>
              <a:t>• DART is the orthogonal sibling for recovery labels. Planner-distill covers transit. Recovery data covers slip and miss. Pair them. Do not merge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“One column beside teleop,” not “instead of teleop.”</a:t>
            </a:r>
          </a:p>
          <a:p>
            <a:pPr/>
            <a:r>
              <a:t>• RRT inside the control loop is the deploy cost §1 refuses. Baking it into weights is the contribution.</a:t>
            </a:r>
          </a:p>
          <a:p>
            <a:pPr/>
            <a:r>
              <a:t>• Residual RL on a modern policy, privileged critic in sim only, is in-family and still TENTATIVE. It is not a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 family, not an invention claim.</a:t>
            </a:r>
          </a:p>
          <a:p>
            <a:pPr/>
            <a:r>
              <a:t>• The specific stack — RRT-Connect inside SAC, BC smooth, 1:3 buffer, init from both networks, small α — is this paper’s recipe. The family is older.</a:t>
            </a:r>
          </a:p>
          <a:p>
            <a:pPr/>
            <a:r>
              <a:t>• “Everyone now does privileged sim” is too loose. Name the privilege: mesh, state, planner, or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None of the six is a completed study.</a:t>
            </a:r>
          </a:p>
          <a:p>
            <a:pPr/>
            <a:r>
              <a:t>• #4 is the tempting overclaim. Say TENTATIVE every time. There is no ACT experiment in this PDF.</a:t>
            </a:r>
          </a:p>
          <a:p>
            <a:pPr/>
            <a:r>
              <a:t>• #5’s answer today is “unmeasured.”</a:t>
            </a:r>
          </a:p>
          <a:p>
            <a:pPr/>
            <a:r>
              <a:t>• #6: evidence is Assembly ASR plus a qualitative figure, not a published jerk threshold. Do not invent the cutoff.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Voice these as future work. No expected percents.</a:t>
            </a:r>
          </a:p>
          <a:p>
            <a:pPr/>
            <a:r>
              <a:t>• Contact is where a pure transit planner is weakest. MoPA-RL mixed small direct actions with large planned moves. A later teacher should keep a contact residual.</a:t>
            </a:r>
          </a:p>
          <a:p>
            <a:pPr/>
            <a:r>
              <a:t>• Where distill still fails, pair with recovery data — the DART idea. Transit is not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no’s. They are the seat’s ethics.</a:t>
            </a:r>
          </a:p>
          <a:p>
            <a:pPr/>
            <a:r>
              <a:t>• A 2026 diagram, if drawn, is labeled TENTATIVE and has blank numbers.</a:t>
            </a:r>
          </a:p>
          <a:p>
            <a:pPr/>
            <a:r>
              <a:t>• If you ever measure the analogy: collision rate, path length, stage success — the AEL/ADR moral — not a single final success bit.</a:t>
            </a:r>
          </a:p>
          <a:p>
            <a:pPr/>
            <a:r>
              <a:t>• The substrate is whatever visual policy you actually train. MoPA-PD is the distill recipe in front of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Still no new numbers.</a:t>
            </a:r>
          </a:p>
          <a:p>
            <a:pPr/>
            <a:r>
              <a:t>• ADR at γ=0.99 rewarded being fast. A sparse success bit will miss why MoPA-PD beat MoPA-RL.</a:t>
            </a:r>
          </a:p>
          <a:p>
            <a:pPr/>
            <a:r>
              <a:t>• Without smoothing, Push looks almost as good (AEL 34 vs 32) and Assembly is a zero. Report the hard task.</a:t>
            </a:r>
          </a:p>
          <a:p>
            <a:pPr/>
            <a:r>
              <a:t>• A course smoke is still not this measurement on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One-liner, then stop. No Discord recap. No Drive link. No BEHAVIOR ranking.</a:t>
            </a:r>
          </a:p>
          <a:p>
            <a:pPr/>
            <a:r>
              <a:t>• “What should we build?” A smoothing filter in front of the demo mix you already have, and a log of planner calls at deploy. Not a 32×32 SAC reimplementation.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237744"/>
            <a:ext cx="112471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EC8FF"/>
                </a:solidFill>
                <a:latin typeface="IBM Plex Sans"/>
              </a:rPr>
              <a:t>DEC 9  ·  ALTERNATIVE APPROACHES  ·  VISIONARY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530352"/>
            <a:ext cx="731520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1EA"/>
                </a:solidFill>
                <a:latin typeface="IBM Plex Serif"/>
              </a:rPr>
              <a:t>Keep the planner in
the curriculum.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240280"/>
            <a:ext cx="70408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Not on the robot. BEHAVIOR-class homes are obstructed and full of contact. MoPA-PD’s idea is a teacher/student split — not a Sawyer checkpoint, and not a baseline we are inventing.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097280"/>
            <a:ext cx="40690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2_t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544" y="2487065"/>
            <a:ext cx="3959352" cy="11523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38912" y="3657600"/>
            <a:ext cx="7040880" cy="2286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No Discord. No Drive. No unofficial BEHAVIOR score. The 2021 scenes are a box, a can, and a table leg. The analogy has to survive that modesty.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SHARED SPINE  ·  TATTOO ON EVERY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Five facts that do not change with the seat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33856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43584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C8FF"/>
                </a:solidFill>
                <a:latin typeface="IBM Plex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207008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Train privilege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499616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Classical MP (RRT-Connect) lives inside MoPA-RL (Yamada et al., CoRL 2020). Geometry and the planner are train-time infrastructure, not the shipped controller.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57984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67712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C8FF"/>
                </a:solidFill>
                <a:latin typeface="IBM Plex Mono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231136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Distill, then smooth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523744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Visual BC on direct-action rollouts removes the planner and smooths RRT jitter. MoPA-PD then runs asymmetric SAC: actor from BC, critic from MoPA-RL Q, Re:Rπ = 1:3, small α.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182112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91840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C8FF"/>
                </a:solidFill>
                <a:latin typeface="IBM Plex Mon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55264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Deploy is planner-free pixels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47872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Inference is a 32×32 image plus joints. No RRT-Connect, no object state, no motion planner. The critic’s state privilege ends when training ends.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206240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15968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C8FF"/>
                </a:solidFill>
                <a:latin typeface="IBM Plex Mono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Numbers you must be able to say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572000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Push 100 / 32.0 / 110.8 (ASR / AEL / ADR). Assembly 0 without BC-smooth vs 100 with. DR ≥ 96.7 sim-to-sim (Lift Scenario 1 is worst). Expert Push AEL 111 vs Ours 32.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230368"/>
            <a:ext cx="11430000" cy="950976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5340096"/>
            <a:ext cx="640080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C8FF"/>
                </a:solidFill>
                <a:latin typeface="IBM Plex Mono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303520"/>
            <a:ext cx="103784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1EA"/>
                </a:solidFill>
                <a:latin typeface="IBM Plex Sans"/>
              </a:rPr>
              <a:t>What this paper is not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596128"/>
            <a:ext cx="1037844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B3C2"/>
                </a:solidFill>
                <a:latin typeface="IBM Plex Sans"/>
              </a:rPr>
              <a:t>Not an ancestor of ACT, Diffusion Policy, π₀, OpenVLA, or OXE — contrast poles only. Not a JEPA / LeWM / Cosmos child. Sim-only Sawyer. Do not launder DR into sim-to-real.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THE IDEA THAT SURVIVES THE CHECKPOINT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Privilege is a curriculum, not a sensor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11430000" cy="20116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353312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4F1EA"/>
                </a:solidFill>
                <a:latin typeface="IBM Plex Serif"/>
              </a:rPr>
              <a:t>When the mesh is known, let a planner explore the clutter. Distill until a visual policy no longer needs the mesh. Then delete the planner from the runtime.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383280"/>
            <a:ext cx="5650992" cy="142189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3383280"/>
            <a:ext cx="64008" cy="142189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930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Known in sim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785616"/>
            <a:ext cx="5358383" cy="9098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Collision geometry, object poses, a motion planner or a TAMP teacher. Stage 0. It does not ship.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5" y="3383280"/>
            <a:ext cx="5650992" cy="142189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5" y="3383280"/>
            <a:ext cx="64008" cy="142189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34930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Unknown at home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785616"/>
            <a:ext cx="5358383" cy="9098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Cameras and proprioception. That is the actor. State critics and RRT stay in the training room.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933188"/>
            <a:ext cx="5650992" cy="142189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4933188"/>
            <a:ext cx="64008" cy="14218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042916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The 2021 proof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335524"/>
            <a:ext cx="5358383" cy="9098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Three Sawyer tasks, success near 100, paths shorter than the teacher, Assembly impossible without smoothing.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3055" y="4933188"/>
            <a:ext cx="5650992" cy="142189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3055" y="4933188"/>
            <a:ext cx="64008" cy="142189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5042916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The 2026 limit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5335524"/>
            <a:ext cx="5358383" cy="90982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Analogy only. No BEHAVIOR success rate is in this paper. Do not speak as if a leaderboard recorded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4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OBSTRUCTED HOUSEHOLD  ·  MAPPED, NOT MEASURED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What the pattern suggests. What it does not score.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33856"/>
            <a:ext cx="11430000" cy="93268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33856"/>
            <a:ext cx="73152" cy="932688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207008"/>
            <a:ext cx="329184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ECFB4"/>
                </a:solidFill>
                <a:latin typeface="IBM Plex Sans"/>
              </a:rPr>
              <a:t>Collision-heavy rooms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243584"/>
            <a:ext cx="7498079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Train-time RRT, or a TAMP teacher, for reach and place. Not online on the robot.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57984"/>
            <a:ext cx="11430000" cy="93268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157984"/>
            <a:ext cx="73152" cy="932688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231136"/>
            <a:ext cx="329184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EC8FF"/>
                </a:solidFill>
                <a:latin typeface="IBM Plex Sans"/>
              </a:rPr>
              <a:t>Vision-only deploy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267712"/>
            <a:ext cx="7498079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Asymmetric train, visual actor at test. A vision critic is future work the authors already named.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182112"/>
            <a:ext cx="11430000" cy="93268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182112"/>
            <a:ext cx="73152" cy="932688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255264"/>
            <a:ext cx="329184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A838"/>
                </a:solidFill>
                <a:latin typeface="IBM Plex Sans"/>
              </a:rPr>
              <a:t>Multi-stage contact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3291840"/>
            <a:ext cx="7498079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Lift is already reach, grasp, lift. Household tasks need stage-wise teachers, then a smooth, then a modern head.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206240"/>
            <a:ext cx="11430000" cy="93268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4206240"/>
            <a:ext cx="73152" cy="932688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279392"/>
            <a:ext cx="329184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B0F5"/>
                </a:solidFill>
                <a:latin typeface="IBM Plex Sans"/>
              </a:rPr>
              <a:t>Appearance shift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315968"/>
            <a:ext cx="7498079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Keep domain randomization. Table 2 is the evidence: textures and distractors, not a new kitchen.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230368"/>
            <a:ext cx="11430000" cy="932688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5230368"/>
            <a:ext cx="73152" cy="932688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03520"/>
            <a:ext cx="329184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6A5A"/>
                </a:solidFill>
                <a:latin typeface="IBM Plex Sans"/>
              </a:rPr>
              <a:t>Layout shift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5340096"/>
            <a:ext cx="7498079" cy="7132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Not tested. Rearranged furniture as kinematic OOD is outside Table 2. Say the gap.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5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FIG. 4 IS THE CEILING OF THE TRANSFER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Distractors in a room the simulator already knows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33856"/>
            <a:ext cx="11430000" cy="2788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4_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76" y="1188720"/>
            <a:ext cx="10879143" cy="267919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84048" y="4114800"/>
            <a:ext cx="3724656" cy="22402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4114800"/>
            <a:ext cx="64008" cy="224028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22452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Inside the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517136"/>
            <a:ext cx="3432048" cy="1728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Unseen colors, furniture, table size, box texture. ASR at least 96.7. The authors call it sample-efficient.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6720" y="4114800"/>
            <a:ext cx="3724656" cy="22402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6720" y="4114800"/>
            <a:ext cx="64008" cy="2240280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19600" y="422452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Outside the 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9600" y="4517136"/>
            <a:ext cx="3432048" cy="1728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New kinematics, novel geometry, real cameras, force, language goals. Not measured. Not “almost.”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9391" y="4114800"/>
            <a:ext cx="3724656" cy="22402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89391" y="4114800"/>
            <a:ext cx="64008" cy="224028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2271" y="422452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Curriculum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2271" y="4517136"/>
            <a:ext cx="3432048" cy="17282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Appearance DR stays, as a cheap invariance. Add layout randomization on purpose. Do not cite Table 2 as having done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6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TEACHER, THEN A MODERN 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TENTATIVE. A data role. Not an architecture merger.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33856"/>
            <a:ext cx="6720840" cy="2971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g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583686"/>
            <a:ext cx="6611112" cy="207213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269480" y="1133856"/>
            <a:ext cx="4526280" cy="29718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1280160"/>
            <a:ext cx="4206240" cy="2697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TENTATIVE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Planner-teacher demos can be one column beside teleop.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4F1EA"/>
                </a:solidFill>
                <a:latin typeface="IBM Plex Sans"/>
              </a:rPr>
              <a:t>The head can be BC, ACT, diffusion, or a VLA fine-tune.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A8B3C2"/>
                </a:solidFill>
                <a:latin typeface="IBM Plex Sans"/>
              </a:rPr>
              <a:t>The 32×32 CNN does not come along.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4297680"/>
            <a:ext cx="3724656" cy="20574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4297680"/>
            <a:ext cx="64008" cy="2057400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4074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Must keep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700016"/>
            <a:ext cx="3432048" cy="1545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Smooth before you mix. Raw RRT in a modern buffer repeats the Assembly failure, whatever the head.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6720" y="4297680"/>
            <a:ext cx="3724656" cy="20574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36720" y="4297680"/>
            <a:ext cx="64008" cy="2057400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9600" y="44074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Must drop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9600" y="4700016"/>
            <a:ext cx="3432048" cy="1545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32×32 SAC as the 2026 controller. The substrate changes. The teacher/student split does not have 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9391" y="4297680"/>
            <a:ext cx="3724656" cy="205740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89391" y="4297680"/>
            <a:ext cx="64008" cy="20574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2271" y="4407408"/>
            <a:ext cx="34320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Must not say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2271" y="4700016"/>
            <a:ext cx="3432048" cy="1545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That this replaces a VLA, or that those models descend from this figure.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7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WHAT NOT TO REPLACE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Modern heads stay modern. The teacher is the new column.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Do not replace the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Chunking, diffusion, flow, and language solve interfaces MoPA-PD never had. Use them. Feed them better clutter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Do not replace the teacher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Human teleop under-samples collision-free transit through tight geometry. A privileged planner is one way to cover that slice. Not the only column.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Do not ship RRT online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Unless a latency budget truly allows it. The point of this paper is amortization. A robot that calls RRT on every large motion missed the lesson.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Do not erase the critic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 state value in sim is allowed. A state value at a real eval is a different system. The authors already asked for a vision critic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8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PRIVILEGED-INFO PATTERNS, AS A FAMILY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MoPA-PD did not invent the family. It is a clean 2021 member.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Asymmetric critics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Pinto et al. 2018, used here directly. State critic, visual actor. Still common in sim. Still not a free real-world critic.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Teacher to student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 planner or GT state rolls out; the student clones or is fine-tuned. MoPA-PD adds smoothing and a low-α exploit bias on top.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DR, then a small real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Tobin-style randomization, then zero-shot or a light fine-tune. This paper stops at zero-shot sim. The real step is unnamed future work.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Primitive plus residual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RelMoGen’s bucket, and later MP menus in the same family. Contrast: they keep the primitive available. MoPA-PD deletes it at deploy.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9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FOLLOW-UPS THAT STAY INSIDE THE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Six directions. Zero fake baselines.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15568"/>
            <a:ext cx="11430000" cy="786384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115568"/>
            <a:ext cx="64008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C8FF"/>
                </a:solidFill>
                <a:latin typeface="IBM Plex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1887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Swap the 32×32 CNN for a modern encoder. Keep the MP teacher. Measure whether smoothing still matters.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984248"/>
            <a:ext cx="11430000" cy="786384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984248"/>
            <a:ext cx="64008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C8FF"/>
                </a:solidFill>
                <a:latin typeface="IBM Plex Mon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05740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Train the vision critic the conclusion asks for. That handoff is the real-robot blocker, not a slogan.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2852928"/>
            <a:ext cx="11430000" cy="786384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52928"/>
            <a:ext cx="64008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C8FF"/>
                </a:solidFill>
                <a:latin typeface="IBM Plex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92608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Store teacher demos as shards tagged with the teacher. One column in a larger set, not a new dataset religion.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3721607"/>
            <a:ext cx="11430000" cy="786384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721607"/>
            <a:ext cx="64008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C8FF"/>
                </a:solidFill>
                <a:latin typeface="IBM Plex Mon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794759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Try BC-smooth in front of action chunking. TENTATIVE. Assembly says jitter is poison; chunking does not repeal 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590288"/>
            <a:ext cx="11430000" cy="786384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590288"/>
            <a:ext cx="64008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C8FF"/>
                </a:solidFill>
                <a:latin typeface="IBM Plex Mon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66344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Equal hours of privileged-MP demos versus teleop on obstruction-heavy tasks. A future experiment. Not a known winner.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5458968"/>
            <a:ext cx="11430000" cy="786384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458968"/>
            <a:ext cx="640080" cy="7863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8EC8FF"/>
                </a:solidFill>
                <a:latin typeface="IBM Plex Mono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532120"/>
            <a:ext cx="1033272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1EA"/>
                </a:solidFill>
                <a:latin typeface="IBM Plex Sans"/>
              </a:rPr>
              <a:t>Treat planner jitter as a data filter before IL. Fig. 8 is the picture. A numeric cutoff is something you would still have to define.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10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WHERE THE PATTERN EARNS ITS 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Applications as hypotheses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Inserts among obstacles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Assembly is already an insert next to fixed legs. Cabinet curricula in sim are the straight extension. Still a hypothesis.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Reach behind clutter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Fridge, shelf, box. Push and Lift are the 2021 cartoons of that problem. A planner covers the approach. It does not replace touch at the grasp.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Hard-negative layouts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Use the teacher to build obstacle arrangements that visual policies fail. An eval set you might make. Not a claimed BEHAVIOR split.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Latency-critical 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Bake the planner’s cost into a reactive policy so the robot does not wait. That is §1’s motivation, and still the right product sentence.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11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HARD NO’S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Imagination ends where the PDF ends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No Discord. No Drive.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Nothing in this seat is a message, a folder, or an upload. The deliverable is the argument.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170432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5" y="1170432"/>
            <a:ext cx="64008" cy="254203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1280160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No invented baseline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1572768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No official BEHAVIOR ’26 MoPA-PD entry is in the sources. Do not promote the paper onto a leaderboard it did not enter.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840480"/>
            <a:ext cx="64008" cy="254203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No invented robot SR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Real-robot transfer is future work. DR is sim-to-sim. A percent you did not read is a fiction.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840480"/>
            <a:ext cx="5650992" cy="254203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3055" y="3840480"/>
            <a:ext cx="64008" cy="2542032"/>
          </a:xfrm>
          <a:prstGeom prst="rect">
            <a:avLst/>
          </a:prstGeom>
          <a:solidFill>
            <a:srgbClr val="C4B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395020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4B0F5"/>
                </a:solidFill>
                <a:latin typeface="IBM Plex Sans"/>
              </a:rPr>
              <a:t>No false family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5936" y="4242816"/>
            <a:ext cx="5358383" cy="20299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Not the parent of ACT, Diffusion Policy, π₀, OpenVLA, OXE, LeWM, JEPA, or Cosmos. A teacher-role rhyme is the strongest legal claim.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12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WHAT YOU WOULD 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Bring Table 1’s metrics. Leave Table 1’s scores.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170432"/>
            <a:ext cx="11430000" cy="169164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25880"/>
            <a:ext cx="1101852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4F1EA"/>
                </a:solidFill>
                <a:latin typeface="IBM Plex Serif"/>
              </a:rPr>
              <a:t>A household distill is not done at success rate. The 2021 flex was a shorter, higher-return path than the privileged expert — and a total miss when the buffer was jittery.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3063240"/>
            <a:ext cx="5650992" cy="158191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3063240"/>
            <a:ext cx="64008" cy="1581912"/>
          </a:xfrm>
          <a:prstGeom prst="rect">
            <a:avLst/>
          </a:prstGeom>
          <a:solidFill>
            <a:srgbClr val="3EC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17296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CFB4"/>
                </a:solidFill>
                <a:latin typeface="IBM Plex Sans"/>
              </a:rPr>
              <a:t>Stage success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465576"/>
            <a:ext cx="5358383" cy="10698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Reach, grasp, transport, insert. Lift’s reward already has three stages. Log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5" y="3063240"/>
            <a:ext cx="5650992" cy="158191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5" y="3063240"/>
            <a:ext cx="64008" cy="1581912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3172968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A838"/>
                </a:solidFill>
                <a:latin typeface="IBM Plex Sans"/>
              </a:rPr>
              <a:t>Path and collisions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465576"/>
            <a:ext cx="5358383" cy="10698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AEL’s moral. A policy that succeeds by thrashing repeats the expert’s failure mode.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773168"/>
            <a:ext cx="5650992" cy="158191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4048" y="4773168"/>
            <a:ext cx="64008" cy="158191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882896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EC8FF"/>
                </a:solidFill>
                <a:latin typeface="IBM Plex Sans"/>
              </a:rPr>
              <a:t>Privilege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175504"/>
            <a:ext cx="5358383" cy="10698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Planner calls at deploy = 0. State in the critic = train only. Same demand a reviewer would make.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3055" y="4773168"/>
            <a:ext cx="5650992" cy="1581912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 w="12700">
            <a:solidFill>
              <a:srgbClr val="2C3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63055" y="4773168"/>
            <a:ext cx="64008" cy="1581912"/>
          </a:xfrm>
          <a:prstGeom prst="rect">
            <a:avLst/>
          </a:prstGeom>
          <a:solidFill>
            <a:srgbClr val="E86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4882896"/>
            <a:ext cx="53583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6A5A"/>
                </a:solidFill>
                <a:latin typeface="IBM Plex Sans"/>
              </a:rPr>
              <a:t>Smoothing audit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45936" y="5175504"/>
            <a:ext cx="5358383" cy="10698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1EA"/>
                </a:solidFill>
                <a:latin typeface="IBM Plex Sans"/>
              </a:rPr>
              <a:t>Jerk of teacher demos vs smoothed demos vs the deployed policy. Assembly shows this is not cosmetic.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41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660196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B3C2"/>
                </a:solidFill>
                <a:latin typeface="IBM Plex Sans"/>
              </a:rPr>
              <a:t>MoPA-PD  ·  arXiv 2111.06383  ·  CoRL 2021  ·  Alternative approaches  ·  Dec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66019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EC8FF"/>
                </a:solidFill>
                <a:latin typeface="IBM Plex Sans"/>
              </a:rPr>
              <a:t>Visionary   13 /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28016"/>
            <a:ext cx="1133856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EC8FF"/>
                </a:solidFill>
                <a:latin typeface="IBM Plex Sans"/>
              </a:rPr>
              <a:t>VISIONARY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5760"/>
            <a:ext cx="1143000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4F1EA"/>
                </a:solidFill>
                <a:latin typeface="IBM Plex Serif"/>
              </a:rPr>
              <a:t>The teacher can leave the runtime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987552"/>
            <a:ext cx="1051560" cy="32004"/>
          </a:xfrm>
          <a:prstGeom prst="rect">
            <a:avLst/>
          </a:prstGeom>
          <a:solidFill>
            <a:srgbClr val="8E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11247120" cy="2377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4F1EA"/>
                </a:solidFill>
                <a:latin typeface="IBM Plex Serif"/>
              </a:rPr>
              <a:t>For obstructed homes, keep classical planning as a sim teacher. Distill — smooth first — into whatever vision student you actually trust. The 2021 proof is that the teacher can disappear at deploy without disappearing from the curriculum.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1124712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B3C2"/>
                </a:solidFill>
                <a:latin typeface="IBM Plex Sans"/>
              </a:rPr>
              <a:t>Push 100 / 32.0 / 110.8.   Assembly 0 without the smooth.   DR ≥ 96.7, sim only.   Not a VLA ancestor.   Not a world model.   No score we did not read.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MoPA-PD — Visionary</dc:title>
  <dc:subject>CoRL 2021 arXiv 2111.06383 · Alternative approaches · Dec 9</dc:subject>
  <dc:creator>Liu*, Uppal*, Sukhatme, Lim, Englert, Lee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