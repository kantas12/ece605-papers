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Genealogy only where a citation exists.</a:t>
            </a:r>
          </a:p>
          <a:p>
            <a:pPr/>
            <a:r>
              <a:t>• CLEAR parent: Yamada et al., CoRL 2020, motion-planner-augmented RL in obstructed manipulation. Cited as [1].</a:t>
            </a:r>
          </a:p>
          <a:p>
            <a:pPr/>
            <a:r>
              <a:t>• CLEAR planner: Kuffner &amp; LaValle, RRT-Connect, ICRA 2000. Cited as [25].</a:t>
            </a:r>
          </a:p>
          <a:p>
            <a:pPr/>
            <a:r>
              <a:t>• Not a hierarchical TAMP paper and not a neural motion-planner paper.</a:t>
            </a:r>
          </a:p>
          <a:p>
            <a:pPr/>
            <a:r>
              <a:t>• ~100% is allowed because Table 1 is 100 / 99 / 100. A real-robot percent is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Shared spine — say this before the role-specific argument.</a:t>
            </a:r>
          </a:p>
          <a:p>
            <a:pPr/>
            <a:r>
              <a:t>• Privileged classical MP (RRT-Connect) at train inside MoPA-RL (Yamada 2020) → visual BC (smooths jitter, drops the planner) → MoPA-PD asymmetric SAC → planner-free pixels at deploy.</a:t>
            </a:r>
          </a:p>
          <a:p>
            <a:pPr/>
            <a:r>
              <a:t>• Must-cites: Push 100 / 32.0 / 110.8 (ASR/AEL/ADR). Assembly 0 without BC smoothing vs 100 with. DR ≥ 96.7 sim-to-sim; Lift Scenario 1 is the worst cell. Expert Push AEL 111 vs Ours 32.</a:t>
            </a:r>
          </a:p>
          <a:p>
            <a:pPr/>
            <a:r>
              <a:t>• NOT an ancestor of ACT, Diffusion Policy, or VLAs (π₀ / OpenVLA / OXE). CLEAR contrast poles only. NOT a JEPA / LeWM / Cosmos child.</a:t>
            </a:r>
          </a:p>
          <a:p>
            <a:pPr/>
            <a:r>
              <a:t>• Sim-only Sawyer MuJoCo, 32×32 images. Real robot is future work in the conclusion. Refuse to launder domain randomization into sim-to-real.</a:t>
            </a:r>
          </a:p>
          <a:p>
            <a:pPr/>
            <a:r>
              <a:t>• Preserve paper numbers only. Do not invent BEHAVIOR success rates or a real-robot SR.</a:t>
            </a:r>
          </a:p>
          <a:p>
            <a:pPr/>
            <a:r>
              <a:t>• Archaeologist use: lines 01–03 are the genealogy. Line 05 is the fence. If a later paper is not cited, it goes in the contrast row, never on the arrow.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the top row is descent.</a:t>
            </a:r>
          </a:p>
          <a:p>
            <a:pPr/>
            <a:r>
              <a:t>• Bottom row is the fence: ACT, Diffusion Policy, π₀, OpenVLA, OXE, LeWM, JEPA, Cosmos, DART. None is a child.</a:t>
            </a:r>
          </a:p>
          <a:p>
            <a:pPr/>
            <a:r>
              <a:t>• DART shares Ross et al. covariate-shift vocabulary. Its fix is action noise while collecting, not planner distill.</a:t>
            </a:r>
          </a:p>
          <a:p>
            <a:pPr/>
            <a:r>
              <a:t>• RelMoGen (Xia et al.) and PBCS (Matheron et al.) are cited MP+RL cousins of the teacher, not children of MoPA-PD.</a:t>
            </a:r>
          </a:p>
          <a:p>
            <a:pPr/>
            <a:r>
              <a:t>• RoboGen’s MP-primitive menu is a later parallel. Contrast, not a child, unless you have opened a citation. This pack has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 these as absorbs.</a:t>
            </a:r>
          </a:p>
          <a:p>
            <a:pPr/>
            <a:r>
              <a:t>• [1] Yamada 2020. [25] Kuffner &amp; LaValle 2000. [5] Pinto RSS 2018. [24] Haarnoja ICML 2018. [4] Pomerleau 1989. [6] Ross, Gordon, Bagnell 2011.</a:t>
            </a:r>
          </a:p>
          <a:p>
            <a:pPr/>
            <a:r>
              <a:t>• Also cited, not the spine: RelMoGen, PBCS, DQfD, DAPG/Rajeswaran, CoL (Goecks 2020), IKEA env (Lee, Hu, Lim, ICRA 2021), SURREAL, Tobin domain randomization.</a:t>
            </a:r>
          </a:p>
          <a:p>
            <a:pPr/>
            <a:r>
              <a:t>• CoL is the LfD prior that still fails here. Citing the family is not citing a solution.</a:t>
            </a:r>
          </a:p>
          <a:p>
            <a:pPr/>
            <a:r>
              <a:t>• Do not narrate ALVINN as a robot-car ancestor. It is the BC citation. Stop.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Genealogy diagram, not only an architecture diagram.</a:t>
            </a:r>
          </a:p>
          <a:p>
            <a:pPr/>
            <a:r>
              <a:t>• Init arrows (actor from BC, critic from MoPA-RL) are the sample-efficiency inheritance and the way privilege leaks forward. Both readings are correct.</a:t>
            </a:r>
          </a:p>
          <a:p>
            <a:pPr/>
            <a:r>
              <a:t>• “Smoothed trajectories” does causal work. Assembly depends on it.</a:t>
            </a:r>
          </a:p>
          <a:p>
            <a:pPr/>
            <a:r>
              <a:t>• No language encoder, no action chunk, no diffusion, no video model in this figure. If a student draws one, erase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Related-work cluster includes Qureshi &amp; Yip; MPNet; Bency’s thesis; Pfeiffer et al.; Jurgenson &amp; Tamar; Strudel et al.; Ha, Xu, Song; Luo, Kasai, Schomaker.</a:t>
            </a:r>
          </a:p>
          <a:p>
            <a:pPr/>
            <a:r>
              <a:t>• Quiz the distinction, not every citation: planner-as-product versus planner-as-teacher.</a:t>
            </a:r>
          </a:p>
          <a:p>
            <a:pPr/>
            <a:r>
              <a:t>• PBCS and RelMoGen are closer to MoPA-RL than to neural planners. They still need privilege to deploy. That is the paper’s complaint.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DART in the contrast column.</a:t>
            </a:r>
          </a:p>
          <a:p>
            <a:pPr/>
            <a:r>
              <a:t>• DART: label recoveries by disturbing the expert. MoPA-PD deploys a learner after a privileged teacher built the coverage.</a:t>
            </a:r>
          </a:p>
          <a:p>
            <a:pPr/>
            <a:r>
              <a:t>• Both fight covariate shift. Then the mechanisms diverge. Do not collapse two club weeks into one slogan.</a:t>
            </a:r>
          </a:p>
          <a:p>
            <a:pPr/>
            <a:r>
              <a:t>• CoL is Goecks et al. 2020, called an LfD SOTA by this paper. Table 1 is the rebuttal inside that 2021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PDF does not mention ACT, Diffusion Policy, or VLAs. You are supplying the contrast. Label it as session contrast, not as an empirical claim inside the PDF.</a:t>
            </a:r>
          </a:p>
          <a:p>
            <a:pPr/>
            <a:r>
              <a:t>• Forbidden words: precursor, ancestor, early VLA, “the reason chunking works.”</a:t>
            </a:r>
          </a:p>
          <a:p>
            <a:pPr/>
            <a:r>
              <a:t>• “Could you chunk the BC targets?” is a Visionary question, marked TENTATIVE. It is not genealogy.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Required fence.</a:t>
            </a:r>
          </a:p>
          <a:p>
            <a:pPr/>
            <a:r>
              <a:t>• The written objective is SAC: Q plus α times the entropy of the visual policy. Not a JEPA loss. Not a video diffusion loss.</a:t>
            </a:r>
          </a:p>
          <a:p>
            <a:pPr/>
            <a:r>
              <a:t>• “Planner-free at deploy” is not a synonym for “world model.” That synonym is how false ancestry starts.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 2 tasks come from the MoPA-RL suite. Push: cube to a goal in a box. Lift: can out of a box. Assembly: fourth leg into the hole, avoiding the other three.</a:t>
            </a:r>
          </a:p>
          <a:p>
            <a:pPr/>
            <a:r>
              <a:t>• Do not call Assembly “BEHAVIOR.” It is one insert in the IKEA furniture simulator.</a:t>
            </a:r>
          </a:p>
          <a:p>
            <a:pPr/>
            <a:r>
              <a:t>• Tobin et al. 2017 is a CLEAR prior for §4.5. MoPA-PD did not invent domain randomization.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TENTATIVE means a plausible pattern with no verified citation. FALSE means do not claim it.</a:t>
            </a:r>
          </a:p>
          <a:p>
            <a:pPr/>
            <a:r>
              <a:t>• Real-robot success: absent, not tentative.</a:t>
            </a:r>
          </a:p>
          <a:p>
            <a:pPr/>
            <a:r>
              <a:t>• Official BEHAVIOR baseline status: unverified. Do not badge a result.</a:t>
            </a:r>
          </a:p>
          <a:p>
            <a:pPr/>
            <a:r>
              <a:t>• The abstract’s code URL is a CLEAR pointer. Whether it builds in 2026 is an empiricist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should reconstruct the Table 1 moral from this sentence.</a:t>
            </a:r>
          </a:p>
          <a:p>
            <a:pPr/>
            <a:r>
              <a:t>• Digits if asked: Push 100 / 32.0 / 110.8; expert AEL 111; Assembly 0 vs 100; Lift Scenario 1 ASR 96.7.</a:t>
            </a:r>
          </a:p>
          <a:p>
            <a:pPr/>
            <a:r>
              <a:t>• Shorter one-liner: classical MP is the privileged teacher, not the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 flag for motion planning, obstruction, and multi-stage contact — and do not overclaim a hierarchical planner.</a:t>
            </a:r>
          </a:p>
          <a:p>
            <a:pPr/>
            <a:r>
              <a:t>• Syllabus pairings: DART (covariate shift, contrast), ACT and Diffusion Policy (visuomotor IL, contrast). Pairing is not parentage.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B0F5"/>
                </a:solidFill>
                <a:latin typeface="IBM Plex Sans"/>
              </a:rPr>
              <a:t>Archaeologist   1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237744"/>
            <a:ext cx="112471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B0F5"/>
                </a:solidFill>
                <a:latin typeface="IBM Plex Sans"/>
              </a:rPr>
              <a:t>DEC 9  ·  ALTERNATIVE APPROACHES  ·  ARCHAEOLOGIST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530352"/>
            <a:ext cx="11247120" cy="1325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4F1EA"/>
                </a:solidFill>
                <a:latin typeface="IBM Plex Serif"/>
              </a:rPr>
              <a:t>The planner is the teacher,
not the product.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011680"/>
            <a:ext cx="1115568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8B3C2"/>
                </a:solidFill>
                <a:latin typeface="IBM Plex Sans"/>
              </a:rPr>
              <a:t>MoPA-PD is the CoRL 2021 bridge from Yamada’s MoPA-RL to a planner-free visual policy. A contrast pole to teleop VLAs — not a child of JEPA or Cosmos.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3200400"/>
            <a:ext cx="2057400" cy="11430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3" y="3310128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RRT-Connect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3" y="384048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4B0F5"/>
                </a:solidFill>
                <a:latin typeface="IBM Plex Sans"/>
              </a:rPr>
              <a:t>2000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04872" y="3520440"/>
            <a:ext cx="38404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E8A838"/>
                </a:solidFill>
                <a:latin typeface="IBM Plex San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0632" y="3200400"/>
            <a:ext cx="2057400" cy="11430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43784" y="3310128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MoPA-RL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3784" y="384048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4B0F5"/>
                </a:solidFill>
                <a:latin typeface="IBM Plex Sans"/>
              </a:rPr>
              <a:t>2020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3520440"/>
            <a:ext cx="38404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E8A838"/>
                </a:solidFill>
                <a:latin typeface="IBM Plex San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02352" y="3200400"/>
            <a:ext cx="2057400" cy="11430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75504" y="3310128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Visual BC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5504" y="384048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4B0F5"/>
                </a:solidFill>
                <a:latin typeface="IBM Plex Sans"/>
              </a:rPr>
              <a:t>smooths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3520440"/>
            <a:ext cx="38404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E8A838"/>
                </a:solidFill>
                <a:latin typeface="IBM Plex San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34071" y="3200400"/>
            <a:ext cx="2057400" cy="11430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07223" y="3310128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MoPA-PD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07223" y="384048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4B0F5"/>
                </a:solidFill>
                <a:latin typeface="IBM Plex Sans"/>
              </a:rPr>
              <a:t>2021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0032" y="3520440"/>
            <a:ext cx="38404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E8A838"/>
                </a:solidFill>
                <a:latin typeface="IBM Plex San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65792" y="3200400"/>
            <a:ext cx="2057400" cy="11430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38944" y="3310128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Pixels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38944" y="384048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4B0F5"/>
                </a:solidFill>
                <a:latin typeface="IBM Plex Sans"/>
              </a:rPr>
              <a:t>deploy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" y="4572000"/>
            <a:ext cx="11247120" cy="1691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1EA"/>
                </a:solidFill>
                <a:latin typeface="IBM Plex Sans"/>
              </a:rPr>
              <a:t>Exam bite: MoPA-RL (RRT-Connect + SAC) → visual BC smooths jitter → asymmetric SAC with the BC buffer, weight init, and small α → ~100% on Sawyer clutter, shorter than the expert, DR zero-shot in sim, planner gone at deploy.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B0F5"/>
                </a:solidFill>
                <a:latin typeface="IBM Plex Sans"/>
              </a:rPr>
              <a:t>Archaeologist   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B0F5"/>
                </a:solidFill>
                <a:latin typeface="IBM Plex Sans"/>
              </a:rPr>
              <a:t>SHARED SPINE  ·  TATTOO ON EVERY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Five facts that do not change with the seat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33856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43584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4B0F5"/>
                </a:solidFill>
                <a:latin typeface="IBM Plex Mono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207008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Train privilege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499616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Classical MP (RRT-Connect) lives inside MoPA-RL (Yamada et al., CoRL 2020). Geometry and the planner are train-time infrastructure, not the shipped controller.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2157984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267712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4B0F5"/>
                </a:solidFill>
                <a:latin typeface="IBM Plex Mono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231136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Distill, then smooth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523744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Visual BC on direct-action rollouts removes the planner and smooths RRT jitter. MoPA-PD then runs asymmetric SAC: actor from BC, critic from MoPA-RL Q, Re:Rπ = 1:3, small α.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182112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291840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4B0F5"/>
                </a:solidFill>
                <a:latin typeface="IBM Plex Mon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255264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Deploy is planner-free pixels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547872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Inference is a 32×32 image plus joints. No RRT-Connect, no object state, no motion planner. The critic’s state privilege ends when training ends.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4206240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315968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4B0F5"/>
                </a:solidFill>
                <a:latin typeface="IBM Plex Mon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279392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Numbers you must be able to say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572000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Push 100 / 32.0 / 110.8 (ASR / AEL / ADR). Assembly 0 without BC-smooth vs 100 with. DR ≥ 96.7 sim-to-sim (Lift Scenario 1 is worst). Expert Push AEL 111 vs Ours 32.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5230368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340096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4B0F5"/>
                </a:solidFill>
                <a:latin typeface="IBM Plex Mono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303520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What this paper is not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596128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Not an ancestor of ACT, Diffusion Policy, π₀, OpenVLA, or OXE — contrast poles only. Not a JEPA / LeWM / Cosmos child. Sim-only Sawyer. Do not launder DR into sim-to-real.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B0F5"/>
                </a:solidFill>
                <a:latin typeface="IBM Plex Sans"/>
              </a:rPr>
              <a:t>Archaeologist   3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B0F5"/>
                </a:solidFill>
                <a:latin typeface="IBM Plex Sans"/>
              </a:rPr>
              <a:t>GENEALOGY  ·  CLEAR ARROWS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What descends, in one 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2" y="1234440"/>
            <a:ext cx="2212848" cy="1874519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" y="1234440"/>
            <a:ext cx="2212848" cy="64008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371600"/>
            <a:ext cx="2029968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1EA"/>
                </a:solidFill>
                <a:latin typeface="IBM Plex Sans"/>
              </a:rPr>
              <a:t>Classical 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2057400"/>
            <a:ext cx="2029968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RRT-Connect
Kuffner &amp; LaValle 2000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06624" y="1234440"/>
            <a:ext cx="2212848" cy="1874519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06624" y="1234440"/>
            <a:ext cx="2212848" cy="64008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98064" y="1371600"/>
            <a:ext cx="2029968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1EA"/>
                </a:solidFill>
                <a:latin typeface="IBM Plex Sans"/>
              </a:rPr>
              <a:t>State SAC
in clutter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8064" y="2057400"/>
            <a:ext cx="2029968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MoPA-RL
Yamada et al. 2020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65776" y="1234440"/>
            <a:ext cx="2212848" cy="1874519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65776" y="1234440"/>
            <a:ext cx="2212848" cy="64008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57216" y="1371600"/>
            <a:ext cx="2029968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1EA"/>
                </a:solidFill>
                <a:latin typeface="IBM Plex Sans"/>
              </a:rPr>
              <a:t>Visual BC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7216" y="2057400"/>
            <a:ext cx="2029968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Smooth the jitter
Drop the planner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24928" y="1234440"/>
            <a:ext cx="2212848" cy="1874519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24928" y="1234440"/>
            <a:ext cx="2212848" cy="64008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16368" y="1371600"/>
            <a:ext cx="2029968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1EA"/>
                </a:solidFill>
                <a:latin typeface="IBM Plex Sans"/>
              </a:rPr>
              <a:t>Asym. vision SAC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16368" y="2057400"/>
            <a:ext cx="2029968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MoPA-PD
init + Re + small 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0" y="1234440"/>
            <a:ext cx="2212848" cy="1874519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84080" y="1234440"/>
            <a:ext cx="2212848" cy="64008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0" y="1371600"/>
            <a:ext cx="2029968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1EA"/>
                </a:solidFill>
                <a:latin typeface="IBM Plex Sans"/>
              </a:rPr>
              <a:t>Deploy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2057400"/>
            <a:ext cx="2029968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Planner-free
32×32 policy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3246120"/>
            <a:ext cx="113385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6A5A"/>
                </a:solidFill>
                <a:latin typeface="IBM Plex Sans"/>
              </a:rPr>
              <a:t>CLEAR CONTRAST  —  NOT DESCENT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7472" y="3611880"/>
            <a:ext cx="2212848" cy="7132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2336" y="3611880"/>
            <a:ext cx="210312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6A5A"/>
                </a:solidFill>
                <a:latin typeface="IBM Plex Sans"/>
              </a:rPr>
              <a:t>ACT / ALOHA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06624" y="3611880"/>
            <a:ext cx="2212848" cy="7132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61488" y="3611880"/>
            <a:ext cx="210312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6A5A"/>
                </a:solidFill>
                <a:latin typeface="IBM Plex Sans"/>
              </a:rPr>
              <a:t>Diffusion Policy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65776" y="3611880"/>
            <a:ext cx="2212848" cy="7132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20640" y="3611880"/>
            <a:ext cx="210312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6A5A"/>
                </a:solidFill>
                <a:latin typeface="IBM Plex Sans"/>
              </a:rPr>
              <a:t>π₀ · OpenVLA · OXE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24928" y="3611880"/>
            <a:ext cx="2212848" cy="7132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79792" y="3611880"/>
            <a:ext cx="210312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6A5A"/>
                </a:solidFill>
                <a:latin typeface="IBM Plex Sans"/>
              </a:rPr>
              <a:t>LeWM / JEPA / Cosmos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84080" y="3611880"/>
            <a:ext cx="2212848" cy="7132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38944" y="3611880"/>
            <a:ext cx="210312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6A5A"/>
                </a:solidFill>
                <a:latin typeface="IBM Plex Sans"/>
              </a:rPr>
              <a:t>DART ≠ this fix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" y="4480560"/>
            <a:ext cx="11338560" cy="1783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8B3C2"/>
                </a:solidFill>
                <a:latin typeface="IBM Plex Sans"/>
              </a:rPr>
              <a:t>TENTATIVE, and labeled as such: later “privileged sim, vision at deploy” recipes rhyme with this pattern. A specific citation from a 2024–2026 VLA back to MoPA-PD is not established here. Do not draw that arrow.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B0F5"/>
                </a:solidFill>
                <a:latin typeface="IBM Plex Sans"/>
              </a:rPr>
              <a:t>Archaeologist   4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B0F5"/>
                </a:solidFill>
                <a:latin typeface="IBM Plex Sans"/>
              </a:rPr>
              <a:t>CLEAR PRIORS THE PAPER ACTUALLY ABSORBS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If it is not in the bibliography, it is not a parent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52144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152144"/>
            <a:ext cx="64008" cy="25420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261872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MoPA-RL, CoRL 2020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54480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Direct parent. MP-augmented SAC. Provides the demos, the critic, and the action-space superset that makes weight init valid.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36720" y="1152144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36720" y="1152144"/>
            <a:ext cx="64008" cy="254203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9600" y="1261872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B0F5"/>
                </a:solidFill>
                <a:latin typeface="IBM Plex Sans"/>
              </a:rPr>
              <a:t>RRT-Connect, 2000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9600" y="1554480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The classical planner inside the teacher. Collision-free large joint moves. Removed at deploy. Not replaced by a learned planner.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9391" y="1152144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9391" y="1152144"/>
            <a:ext cx="64008" cy="254203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2271" y="1261872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Asymmetric AC, Pinto 2018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2271" y="1554480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Vision actor, state critic. The train/deploy split. Privilege remains during learning, on purpose.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3822192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822192"/>
            <a:ext cx="64008" cy="254203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931920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C8FF"/>
                </a:solidFill>
                <a:latin typeface="IBM Plex Sans"/>
              </a:rPr>
              <a:t>SAC, Haarnoja 2018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224528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Off-policy maximum-entropy actor-critic for both stages. α is a tuned temperature, not a new algorithm.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36720" y="3822192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36720" y="3822192"/>
            <a:ext cx="64008" cy="25420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19600" y="3931920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BC / ALVINN, 1989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9600" y="4224528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Pomerleau. Stage 1 is image–action MSE. An old tool, used here as a smoother and an initializer. Not a driving story.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89391" y="3822192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89391" y="3822192"/>
            <a:ext cx="64008" cy="254203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2271" y="3931920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Covariate shift, Ross 2011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2271" y="4224528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Why BC is not enough. The fix is online RL with a smoothed expert buffer — not DAgger queries and not DART noise.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B0F5"/>
                </a:solidFill>
                <a:latin typeface="IBM Plex Sans"/>
              </a:rPr>
              <a:t>Archaeologist   5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B0F5"/>
                </a:solidFill>
                <a:latin typeface="IBM Plex Sans"/>
              </a:rPr>
              <a:t>FIG. 1 IS THE 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Same picture, read as lineage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33856"/>
            <a:ext cx="11430000" cy="3703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1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1" y="1211443"/>
            <a:ext cx="11320272" cy="354814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84048" y="4983480"/>
            <a:ext cx="3724656" cy="141732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4983480"/>
            <a:ext cx="64008" cy="141732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5093208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Left block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385816"/>
            <a:ext cx="3432048" cy="9052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State MoPA-RL. The only place RRT-Connect appears.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36720" y="4983480"/>
            <a:ext cx="3724656" cy="141732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36720" y="4983480"/>
            <a:ext cx="64008" cy="1417320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9600" y="5093208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Middle block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9600" y="5385816"/>
            <a:ext cx="3432048" cy="9052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BC removes the planner and writes Re. This is the smoothing event.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9391" y="4983480"/>
            <a:ext cx="3724656" cy="141732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9391" y="4983480"/>
            <a:ext cx="64008" cy="1417320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2271" y="5093208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C8FF"/>
                </a:solidFill>
                <a:latin typeface="IBM Plex Sans"/>
              </a:rPr>
              <a:t>Right block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2271" y="5385816"/>
            <a:ext cx="3432048" cy="9052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The vision actor deploys. The state critic is a train-time wire, not a sensor.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B0F5"/>
                </a:solidFill>
                <a:latin typeface="IBM Plex Sans"/>
              </a:rPr>
              <a:t>Archaeologist   6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B0F5"/>
                </a:solidFill>
                <a:latin typeface="IBM Plex Sans"/>
              </a:rPr>
              <a:t>DECOY LINEAGE  ·  NEURAL MOTION PLANNERS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They distill planners. They are not this paper.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70432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170432"/>
            <a:ext cx="64008" cy="254203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280160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B0F5"/>
                </a:solidFill>
                <a:latin typeface="IBM Plex Sans"/>
              </a:rPr>
              <a:t>What they 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72768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Qureshi et al., Motion Planning Networks, Strudel et al., Jurgenson &amp; Tamar: a network imitates or replaces a planner, often from state or geometry, usually not contact-rich visual manipulation.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170432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5" y="1170432"/>
            <a:ext cx="64008" cy="254203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280160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What MoPA-PD does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1572768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Uses a classical planner only as a teacher inside RL, then throws planning away. The deployed object is a reactive visual policy — not a planner network.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840480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3840480"/>
            <a:ext cx="64008" cy="25420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9502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Why the paper bothers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242816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Related work separates those efforts from “distilling motion planners” into visual manipulation policies. Keep the authors’ distinction.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840480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5" y="3840480"/>
            <a:ext cx="64008" cy="254203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39502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Exam trap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4242816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“MoPA-PD is Motion Planning Networks for images.” No. Those models still aim to plan. MoPA-PD aims to stop calling a planner.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B0F5"/>
                </a:solidFill>
                <a:latin typeface="IBM Plex Sans"/>
              </a:rPr>
              <a:t>Archaeologist   7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B0F5"/>
                </a:solidFill>
                <a:latin typeface="IBM Plex Sans"/>
              </a:rPr>
              <a:t>COVARIATE SHIFT IS SHARED VOCABULARY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DART and DAgger are not the parents of the fix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70432"/>
            <a:ext cx="5623560" cy="52120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53312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SHARED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828800"/>
            <a:ext cx="521208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4F1EA"/>
                </a:solidFill>
                <a:latin typeface="IBM Plex Serif"/>
              </a:rPr>
              <a:t>Ross, Gordon, and Bagnell, 2011: behavioral cloning fails off the demonstration manifold.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520440"/>
            <a:ext cx="5212080" cy="2468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8B3C2"/>
                </a:solidFill>
                <a:latin typeface="IBM Plex Sans"/>
              </a:rPr>
              <a:t>MoPA-PD cites that fact, then refuses to stop at BC. Stage 2 rolls the visual policy and mixes a smoothed expert buffer, with no human in the loop.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170432"/>
            <a:ext cx="5623560" cy="52120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353312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NOT THE SAME FIX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874519"/>
            <a:ext cx="5212080" cy="4206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4F1EA"/>
                </a:solidFill>
                <a:latin typeface="IBM Plex Sans"/>
              </a:rPr>
              <a:t>DAgger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A8B3C2"/>
                </a:solidFill>
                <a:latin typeface="IBM Plex Sans"/>
              </a:rPr>
              <a:t>Queries an expert on the learner’s states. MoPA-PD does not. The expert is a frozen planner-policy, used offline and as a buffer.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4F1EA"/>
                </a:solidFill>
                <a:latin typeface="IBM Plex Sans"/>
              </a:rPr>
              <a:t>DART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A8B3C2"/>
                </a:solidFill>
                <a:latin typeface="IBM Plex Sans"/>
              </a:rPr>
              <a:t>Injects action noise so the expert labels recoveries. Different intervention. Orthogonal sibling, not an ancestor.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4F1EA"/>
                </a:solidFill>
                <a:latin typeface="IBM Plex Sans"/>
              </a:rPr>
              <a:t>CoL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A8B3C2"/>
                </a:solidFill>
                <a:latin typeface="IBM Plex Sans"/>
              </a:rPr>
              <a:t>The paper’s own IL+RL baseline. It does not solve these tasks. The family is not the solution.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B0F5"/>
                </a:solidFill>
                <a:latin typeface="IBM Plex Sans"/>
              </a:rPr>
              <a:t>Archaeologist   8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B0F5"/>
                </a:solidFill>
                <a:latin typeface="IBM Plex Sans"/>
              </a:rPr>
              <a:t>NOT DESCENT  ·  MODERN IL AND VLAS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Different data. Different heads. No arrow.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70432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170432"/>
            <a:ext cx="64008" cy="254203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280160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72768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Action chunking with a CVAE, from human teleoperation. MoPA-PD’s actions are single-step joint deltas from a planner-teacher, not chunks from a person.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170432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5" y="1170432"/>
            <a:ext cx="64008" cy="254203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280160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Diffusion 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1572768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Denoises an action trajectory conditioned on images, from demonstrations. Table 1’s BC-Visual is not this baseline.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840480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3840480"/>
            <a:ext cx="64008" cy="254203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9502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π₀ / OpenVLA / OXE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242816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Cross-embodiment vision-language-action. One Sawyer, no language, no OXE shard. Absence of a citation is the finding. Do not fill it in.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840480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5" y="3840480"/>
            <a:ext cx="64008" cy="254203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39502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Allowed sentence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4242816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An alternative answer to “where do hard clutter demonstrations come from?” Not a missing chapter in the VLA textbook.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B0F5"/>
                </a:solidFill>
                <a:latin typeface="IBM Plex Sans"/>
              </a:rPr>
              <a:t>Archaeologist   9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B0F5"/>
                </a:solidFill>
                <a:latin typeface="IBM Plex Sans"/>
              </a:rPr>
              <a:t>NOT DESCENT  ·  WORLD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Latent prediction is a different family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70432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170432"/>
            <a:ext cx="64008" cy="254203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280160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B0F5"/>
                </a:solidFill>
                <a:latin typeface="IBM Plex Sans"/>
              </a:rPr>
              <a:t>LeWM / JEPA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72768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Latent predictive world models. If they plan, they plan in representation space. MoPA-PD’s planner is RRT-Connect on joints, and only at train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170432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5" y="1170432"/>
            <a:ext cx="64008" cy="254203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280160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C8FF"/>
                </a:solidFill>
                <a:latin typeface="IBM Plex Sans"/>
              </a:rPr>
              <a:t>Cosmos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1572768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Generative video world models. MoPA-PD does not synthesize futures. It distills a classical planner. Pole, not parent, not child.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840480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3840480"/>
            <a:ext cx="64008" cy="25420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9502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Why the confusion happens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242816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Both say the deployed policy does not call a planner. One amortizes RRT into a CNN. The other never had RRT.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840480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5" y="3840480"/>
            <a:ext cx="64008" cy="254203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39502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Fence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4242816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Do not place MoPA-PD on a JEPA or Cosmos slide except as a labeled contrast pole.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B0F5"/>
                </a:solidFill>
                <a:latin typeface="IBM Plex Sans"/>
              </a:rPr>
              <a:t>Archaeologist   10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B0F5"/>
                </a:solidFill>
                <a:latin typeface="IBM Plex Sans"/>
              </a:rPr>
              <a:t>PARALLEL FAMILY, NOT CHILDREN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RelMoGen is cited. RoboGen is only a later echo.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52144"/>
            <a:ext cx="5669280" cy="5212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2_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949144"/>
            <a:ext cx="5559552" cy="161807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17920" y="1152144"/>
            <a:ext cx="5577840" cy="52120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25880"/>
            <a:ext cx="5212080" cy="4846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3ECFB4"/>
                </a:solidFill>
                <a:latin typeface="IBM Plex Sans"/>
              </a:rPr>
              <a:t>RelMoGen  ·  CLEAR cite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Xia et al. 2021. Motion generation inside RL for mobile manipulation. A cousin of the teacher: still wants privilege at deploy.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3ECFB4"/>
                </a:solidFill>
                <a:latin typeface="IBM Plex Sans"/>
              </a:rPr>
              <a:t>PBCS  ·  CLEAR cite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Matheron, Perrin, Sigaud. RL and planning for exploration. Same related-work bucket.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8A838"/>
                </a:solidFill>
                <a:latin typeface="IBM Plex Sans"/>
              </a:rPr>
              <a:t>RoboGen  ·  parallel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Later systems that keep MP primitives online are a contrast. MoPA-PD’s story is that the primitive leaves. No ancestry without a citation.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C4B0F5"/>
                </a:solidFill>
                <a:latin typeface="IBM Plex Sans"/>
              </a:rPr>
              <a:t>IKEA env  ·  CLEAR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Assembly sits on Lee, Hu, Lim, ICRA 2021. Task source, not a policy ancestor. Not BEHAVIOR.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B0F5"/>
                </a:solidFill>
                <a:latin typeface="IBM Plex Sans"/>
              </a:rPr>
              <a:t>Archaeologist   11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B0F5"/>
                </a:solidFill>
                <a:latin typeface="IBM Plex Sans"/>
              </a:rPr>
              <a:t>CLEAR VS TENTATIVE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The only badges this seat may 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15568"/>
            <a:ext cx="11430000" cy="67665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115568"/>
            <a:ext cx="155448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ECFB4"/>
                </a:solidFill>
                <a:latin typeface="IBM Plex Sans"/>
              </a:rPr>
              <a:t>CLEAR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1115568"/>
            <a:ext cx="941832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1EA"/>
                </a:solidFill>
                <a:latin typeface="IBM Plex Sans"/>
              </a:rPr>
              <a:t>Distills MoPA-RL. RRT-Connect at train, gone at deploy.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865376"/>
            <a:ext cx="11430000" cy="67665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865376"/>
            <a:ext cx="155448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ECFB4"/>
                </a:solidFill>
                <a:latin typeface="IBM Plex Sans"/>
              </a:rPr>
              <a:t>CLEAR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1865376"/>
            <a:ext cx="941832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1EA"/>
                </a:solidFill>
                <a:latin typeface="IBM Plex Sans"/>
              </a:rPr>
              <a:t>Visual BC smoothing is necessary on Assembly: 0 vs 100.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2615184"/>
            <a:ext cx="11430000" cy="67665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615184"/>
            <a:ext cx="155448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ECFB4"/>
                </a:solidFill>
                <a:latin typeface="IBM Plex Sans"/>
              </a:rPr>
              <a:t>CLEAR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2615184"/>
            <a:ext cx="941832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1EA"/>
                </a:solidFill>
                <a:latin typeface="IBM Plex Sans"/>
              </a:rPr>
              <a:t>Asymmetric actor-critic, SAC, ALVINN-style BC, Ross covariate shift.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3364991"/>
            <a:ext cx="11430000" cy="67665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364991"/>
            <a:ext cx="155448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ECFB4"/>
                </a:solidFill>
                <a:latin typeface="IBM Plex Sans"/>
              </a:rPr>
              <a:t>CLEAR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3364991"/>
            <a:ext cx="941832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1EA"/>
                </a:solidFill>
                <a:latin typeface="IBM Plex Sans"/>
              </a:rPr>
              <a:t>DR zero-shot distractors, above 96% ASR, sim-to-sim only.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4114800"/>
            <a:ext cx="11430000" cy="67665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114800"/>
            <a:ext cx="155448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A838"/>
                </a:solidFill>
                <a:latin typeface="IBM Plex Sans"/>
              </a:rPr>
              <a:t>CLEAR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4114800"/>
            <a:ext cx="941832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1EA"/>
                </a:solidFill>
                <a:latin typeface="IBM Plex Sans"/>
              </a:rPr>
              <a:t>Contrast to ACT, DP, VLAs, JEPA/Cosmos, DART — poles, not parents.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4864607"/>
            <a:ext cx="11430000" cy="67665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864607"/>
            <a:ext cx="155448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6A5A"/>
                </a:solidFill>
                <a:latin typeface="IBM Plex Sans"/>
              </a:rPr>
              <a:t>TENTATIVE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4864607"/>
            <a:ext cx="941832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1EA"/>
                </a:solidFill>
                <a:latin typeface="IBM Plex Sans"/>
              </a:rPr>
              <a:t>A soft rhyme with later privileged-sim → vision-deploy recipes.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4048" y="5614416"/>
            <a:ext cx="11430000" cy="67665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614416"/>
            <a:ext cx="155448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6A5A"/>
                </a:solidFill>
                <a:latin typeface="IBM Plex Sans"/>
              </a:rPr>
              <a:t>FALSE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8840" y="5614416"/>
            <a:ext cx="941832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1EA"/>
                </a:solidFill>
                <a:latin typeface="IBM Plex Sans"/>
              </a:rPr>
              <a:t>Ancestor of π₀, OpenVLA, JEPA, or Cosmos. Do not say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B0F5"/>
                </a:solidFill>
                <a:latin typeface="IBM Plex Sans"/>
              </a:rPr>
              <a:t>Archaeologist   12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B0F5"/>
                </a:solidFill>
                <a:latin typeface="IBM Plex Sans"/>
              </a:rPr>
              <a:t>EXAM BITE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One sentence. Then the fence.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88720"/>
            <a:ext cx="11430000" cy="306324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17320"/>
            <a:ext cx="10972800" cy="2606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4F1EA"/>
                </a:solidFill>
                <a:latin typeface="IBM Plex Serif"/>
              </a:rPr>
              <a:t>MoPA-PD = MoPA-RL (RRT-Connect + SAC) → visual BC smooths the jitter → asymmetric SAC with the BC buffer, weight init, and a small α → about 100% on Sawyer clutter, shorter than the expert, DR zero-shot in sim, planner gone at deploy.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80560"/>
            <a:ext cx="11247120" cy="1691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8B3C2"/>
                </a:solidFill>
                <a:latin typeface="IBM Plex Sans"/>
              </a:rPr>
              <a:t>Same breath: not ACT, not Diffusion Policy, not a VLA ancestor, not a JEPA or Cosmos child. Sim-only. Assembly without smoothing is zero, not “a bit worse.”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B0F5"/>
                </a:solidFill>
                <a:latin typeface="IBM Plex Sans"/>
              </a:rPr>
              <a:t>Archaeologist   13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B0F5"/>
                </a:solidFill>
                <a:latin typeface="IBM Plex Sans"/>
              </a:rPr>
              <a:t>ARCHAEOLOGIST CLOSE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High flag. Narrow claim.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70432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170432"/>
            <a:ext cx="64008" cy="254203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280160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B0F5"/>
                </a:solidFill>
                <a:latin typeface="IBM Plex Sans"/>
              </a:rPr>
              <a:t>Motion planning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72768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RRT-Connect is first-class machinery, and the paper is about removing it. That is the flag. It is not a planner library.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170432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5" y="1170432"/>
            <a:ext cx="64008" cy="25420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280160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Obstruction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1572768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All three tasks are collision-constrained. Baselines without the privileged teacher collapse. That is why this seat exists.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840480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3840480"/>
            <a:ext cx="64008" cy="254203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9502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Long horizon, carefully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242816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Lift is reach–grasp–lift. Assembly is an insert among legs. Do not promote this to a TAMP graph or a BEHAVIOR skill.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840480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5" y="3840480"/>
            <a:ext cx="64008" cy="254203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39502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Leave with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4242816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Teacher, smoother, student. Three nouns. No false descendants.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MoPA-PD — Archaeologist</dc:title>
  <dc:subject>CoRL 2021 arXiv 2111.06383 · Alternative approaches · Dec 9</dc:subject>
  <dc:creator>Liu*, Uppal*, Sukhatme, Lim, Englert, Lee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