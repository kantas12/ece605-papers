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seats empty — balanced Empiricist, not weight-3 over-index.</a:t>
            </a:r>
          </a:p>
          <a:p>
            <a:pPr/>
            <a:r>
              <a:t>• AUTHORITATIVE: /workspace/papers/forcevla-2505.22159-ablations.md ranks 1–7. Folded over DELIVERABLE's PDF-only pending ranks.</a:t>
            </a:r>
          </a:p>
          <a:p>
            <a:pPr/>
            <a:r>
              <a:t>• Course smoke RC cards: RC1 fvlmoe_vs_pi0, RC2 fusion_stage, RC3 insertion_metrics PRIMARY; Partial gen/router; N paper-scale.</a:t>
            </a:r>
          </a:p>
          <a:p>
            <a:pPr/>
            <a:r>
              <a:t>• Smoke ≠ Tab.1 / Fig.5 absolute paper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Late 6-axis F/T token + FVLMoE (E=4 top-1) after VLM → additive guide into π₀ FM action head.</a:t>
            </a:r>
          </a:p>
          <a:p>
            <a:pPr/>
            <a:r>
              <a:t>• Contact-rich insert/wipe/peel on Flexiv; ForceVLA-Data 244 traj / 140k / ~50/task.</a:t>
            </a:r>
          </a:p>
          <a:p>
            <a:pPr/>
            <a:r>
              <a:t>• Must-cites: 60.5 vs 37.3 (+23.2); naive w/F 40.2 (+2.9); early MoE 0% / late FVLMoE 80%; occlusion 90%; FAST+naive 31→14.2.</a:t>
            </a:r>
          </a:p>
          <a:p>
            <a:pPr/>
            <a:r>
              <a:t>• NOT MoPA-PD ancestor. NOT JEPA/WM child. No π₀.₅ bake-off.</a:t>
            </a:r>
          </a:p>
          <a:p>
            <a:pPr/>
            <a:r>
              <a:t>• Typo: 37.3 = w/o F. Pump: naive 83 &gt; ForceVLA 67. No invented BEHAVIOR SR.</a:t>
            </a:r>
          </a:p>
          <a:p>
            <a:pPr/>
            <a:r>
              <a:t>• Empiricist use: paper numbers stay citations. Your runs are labeled smoke. Never paste a smoke SR into a Fig.5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Minimum package: #1+#2+#3+#4 (as RC1/RC2/RC3 morals), Partial #5/#6, cite #7 Pump.</a:t>
            </a:r>
          </a:p>
          <a:p>
            <a:pPr/>
            <a:r>
              <a:t>• Honorable not top-7: Tab.1 peel continuous; Wipe Board FAST win; Fig.9 router (no SR).</a:t>
            </a:r>
          </a:p>
          <a:p>
            <a:pPr/>
            <a:r>
              <a:t>• DELIVERABLE had PDF-derived ranks with Ablation Bot PENDING — this deck uses Ablation Bot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 1. Table 3 §5.4. Ablation Bot: only labeled ablation; cleanest FVLMoE test.</a:t>
            </a:r>
          </a:p>
          <a:p>
            <a:pPr/>
            <a:r>
              <a:t>• Late stage only: concat 60 vs FVLMoE 80 (+20).</a:t>
            </a:r>
          </a:p>
          <a:p>
            <a:pPr/>
            <a:r>
              <a:t>• Early: linear 55 vs MoE 0 — 0% may be unstable training; still highest-value rerun.</a:t>
            </a:r>
          </a:p>
          <a:p>
            <a:pPr/>
            <a:r>
              <a:t>• Pass: late ≥ early directional. Fail: claiming Tab.3 80% from stub.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Ranks 2–3. Do not cite 80% for USB.</a:t>
            </a:r>
          </a:p>
          <a:p>
            <a:pPr/>
            <a:r>
              <a:t>• Eval protocol: 20 trials insertion. Quote printed labels; some rates not integer multiples of 1/20 (Pump 33/67/83).</a:t>
            </a:r>
          </a:p>
          <a:p>
            <a:pPr/>
            <a:r>
              <a:t>• RC3: metrics JSON filled even on stub/replay. No invented paper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 4 / RC1 PRIMARY bakeoff moral.</a:t>
            </a:r>
          </a:p>
          <a:p>
            <a:pPr/>
            <a:r>
              <a:t>• Matched-budget: FVLMoE vs π₀-base w/o F vs naive w/ F on 1 contact-rich task.</a:t>
            </a:r>
          </a:p>
          <a:p>
            <a:pPr/>
            <a:r>
              <a:t>• Pass: directional FVLMoE ≥ concat ≥ none on SR or contact metrics. Not required: 5-task 60.5 absolute.</a:t>
            </a:r>
          </a:p>
          <a:p>
            <a:pPr/>
            <a:r>
              <a:t>• Do not treat π₀-fast + naive F as a fair FVLMoE substitute.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Partial add-ons. Unstable socket cite (ForceVLA 20; fast w/F 30).</a:t>
            </a:r>
          </a:p>
          <a:p>
            <a:pPr/>
            <a:r>
              <a:t>• Router Fig.9 Partial RC6: log top-1 vs progress; do not claim Fig.9 reproduction. Expert-0 ~half tokens — interpretive.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Bot rank 7: necessary caveat. Do not overclaim.</a:t>
            </a:r>
          </a:p>
          <a:p>
            <a:pPr/>
            <a:r>
              <a:t>• Wipe Board-1: fast w/o F 91 &gt; ForceVLA 64 — another negative control if testing 'force always helps'.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Scout success: RC1+RC2+RC3 (+RC0) with directional morals + honest force_source.</a:t>
            </a:r>
          </a:p>
          <a:p>
            <a:pPr/>
            <a:r>
              <a:t>• Est. GPU-h: RC0 0–1; RC3 1–4; RC2 6–20; RC1 8–24; paper single ~9h cite/N; multi ≫24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 §4 what-NOT-to-claim, reinforced after Ablation Bot fold.</a:t>
            </a:r>
          </a:p>
          <a:p>
            <a:pPr/>
            <a:r>
              <a:t>• Typo fix preserved: 37.3 = w/o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one-liner from pack.</a:t>
            </a:r>
          </a:p>
          <a:p>
            <a:pPr/>
            <a:r>
              <a:t>• Multi-task ForceVLA avg 67.5 (plug 100, USB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Empiricist. Balanced Club Pack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37744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LAST SHEET  ·  ALTERNATIVE APPROACHES  ·  EMPIRICIST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30352"/>
            <a:ext cx="112471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1EA"/>
                </a:solidFill>
                <a:latin typeface="IBM Plex Serif"/>
              </a:rPr>
              <a:t>Smoke the knives.
Do not reprint Fig. 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20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3C2"/>
                </a:solidFill>
                <a:latin typeface="IBM Plex Sans"/>
              </a:rPr>
              <a:t>Ablation Bot AUTHORITATIVE ranks 1–7 (re-aligned over DELIVERABLE pending note). Primary: RC1 FVLMoE vs π₀, RC2 fusion, RC3 insertion metrics. Smoke ≠ paper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907792"/>
            <a:ext cx="162763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FB4"/>
                </a:solidFill>
                <a:latin typeface="IBM Plex Mono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27355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1EA"/>
                </a:solidFill>
                <a:latin typeface="IBM Plex Sans"/>
              </a:rPr>
              <a:t>Tab.3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4048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66544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4" y="2907792"/>
            <a:ext cx="162763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FB4"/>
                </a:solidFill>
                <a:latin typeface="IBM Plex Mon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27355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1EA"/>
                </a:solidFill>
                <a:latin typeface="IBM Plex Sans"/>
              </a:rPr>
              <a:t>Insert Plug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384048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0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2907792"/>
            <a:ext cx="162763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FB4"/>
                </a:solidFill>
                <a:latin typeface="IBM Plex Mono"/>
              </a:rPr>
              <a:t>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327355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1EA"/>
                </a:solidFill>
                <a:latin typeface="IBM Plex Sans"/>
              </a:rPr>
              <a:t>Insert USB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3904" y="384048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31536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31536" y="2907792"/>
            <a:ext cx="162763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FB4"/>
                </a:solidFill>
                <a:latin typeface="IBM Plex Mono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27355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1EA"/>
                </a:solidFill>
                <a:latin typeface="IBM Plex Sans"/>
              </a:rPr>
              <a:t>Averages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84048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14032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2907792"/>
            <a:ext cx="162763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A838"/>
                </a:solidFill>
                <a:latin typeface="IBM Plex Mono"/>
              </a:rPr>
              <a:t>#5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27355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1EA"/>
                </a:solidFill>
                <a:latin typeface="IBM Plex Sans"/>
              </a:rPr>
              <a:t>Occlusion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384048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96528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2907792"/>
            <a:ext cx="162763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A838"/>
                </a:solidFill>
                <a:latin typeface="IBM Plex Mono"/>
              </a:rPr>
              <a:t>#6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327355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1EA"/>
                </a:solidFill>
                <a:latin typeface="IBM Plex Sans"/>
              </a:rPr>
              <a:t>Multi-task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384048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79024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79024" y="2907792"/>
            <a:ext cx="162763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6A5A"/>
                </a:solidFill>
                <a:latin typeface="IBM Plex Mono"/>
              </a:rPr>
              <a:t>#7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33888" y="327355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1EA"/>
                </a:solidFill>
                <a:latin typeface="IBM Plex Sans"/>
              </a:rPr>
              <a:t>Pump caveat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3888" y="3840480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cite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4617720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Pass: directional morals on fusion + insertion with force_fusion logged.
Fail: writing “we reproduced Fig.5 60.5%” off a 1-task stub. N: paper-scale Flexiv / 8×4090.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Late 6-axis F/T + FVLMoE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After VLM (PaliGemma/SigLIP): project wrench → force token → FVLMoE (E=4, top-1) → additive guide into π₀ flow-matching action head. Force stays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Contact-rich on Flexiv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Insert USB / plug, pump bottle, wipe board, peel cucumber. ForceVLA-Data: 244 traj / ~140k steps / ~50 demos per task. Quest3 teleop.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Must-cites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Avg 60.5 vs π₀-base w/o F 37.3 (+23.2). Naive w/ F only 40.2 (+2.9). Early MoE-before-VLM 0% → late FVLMoE 80% (Tab.3). Occlusion 90%. FAST+naive force 31.0→14.2.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CLEAR contrasts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MoPA-PD ancestor (MoPA = MP privilege→vision student; ForceVLA = deploy force into VLA). NOT JEPA/WM child. No π₀.₅ bake-off — do not invent.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 hygiene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Typo fix: 37.3 = w/o F (not w/ F). Preserve paper numbers. No invented BEHAVIOR SR. Pump caveat: naive w/F 83 &gt; ForceVLA 67 — do not overclaim.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ABLATION BOT  ·  RANKS 1–7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AUTHORITATIVE — fold over DELIVERABLE pending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097280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97280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097280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Tab.3 fusion-stage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097280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097280"/>
            <a:ext cx="63550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Early MoE 0% / concat 60 / FVLMoE 80. Cleanest FVLMoE test.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1847088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847088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847088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Fig.5 Insert Plug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47088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847088"/>
            <a:ext cx="63550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fast 25/30; base 45/60; ForceVLA 80. Abstract 80% 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2596896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596896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596896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Fig.5 Insert USB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596896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596896"/>
            <a:ext cx="63550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Force on/off NULL for π₀ (0/0, 5/5); FVLMoE only gain → 25.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346704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346704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346704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Fig.5 averages + FAST hurt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346704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346704"/>
            <a:ext cx="63550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60.5 vs 37.3 (+23.2); naive +2.9; fast 31.0→14.2.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096511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096511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096511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Tab.2 occl / Obj Gen.2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096511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096511"/>
            <a:ext cx="63550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Occlusion 90 vs 60/30; Obj Gen.2 40. Naive can hurt.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4846320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4846320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846320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Tab.5 multi-task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846320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4846320"/>
            <a:ext cx="63550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Avg 67.5 vs 42.5 / 5 / 0. Plug saturates both force methods.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5596128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596128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596128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Pump Bottle reversal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596128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cite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5596128"/>
            <a:ext cx="63550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Naive w/F 83 &gt; ForceVLA 67. Falsifier — do not overclaim.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PRIMARY  ·  RANK 1  ·  RC2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Fusion stage: early MoE 0% vs late FVLMoE 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94360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182113"/>
            <a:ext cx="5833872" cy="51247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92240" y="1115568"/>
            <a:ext cx="530352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280160"/>
            <a:ext cx="493776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#1 / RC2 smoke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{early_linear, early_moe_stub, late_concat, late_fvlmoe} on 1 task / short FT.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Hard log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force_fusion = early_linear | early_moe | concat | fvlmoe. force_source = true|est|stub.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Paper moral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Late ≥ early. Early MoE must not win (cite 0% if untrainable).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A8B3C2"/>
                </a:solidFill>
                <a:latin typeface="IBM Plex Sans"/>
              </a:rPr>
              <a:t>Not required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Matched Tab.3 80% absolute. Task identity for Tab.3 is underspecified — treat as plug-scale correspondence.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PRIMARY  ·  RANKS 2–3  ·  RC3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Insert Plug 80% story + USB force-null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58952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5_mai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1701981"/>
            <a:ext cx="7479792" cy="408497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2440" y="1115568"/>
            <a:ext cx="370332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38328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#2 Insert Plug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4F1EA"/>
                </a:solidFill>
                <a:latin typeface="IBM Plex Serif"/>
              </a:rPr>
              <a:t>25/30 → 45/60 → 80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Naive +15 on base; FVLMoE +20 more.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#3 Insert USB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Force on/off NULL for π₀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4F1EA"/>
                </a:solidFill>
                <a:latin typeface="IBM Plex Sans"/>
              </a:rPr>
              <a:t>fast 0/0; base 5/5; FVLMoE 25 only gain.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RC3 harness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Log SR, align error, peak |F|. Prefer Plug; USB shows modality≠gain.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PRIMARY  ·  RANK 4  ·  RC1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Averages +23.2 and the FAST hurt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170432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π₀-fast w/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170432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6A5A"/>
                </a:solidFill>
                <a:latin typeface="IBM Plex Serif"/>
              </a:rPr>
              <a:t>14.2%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170432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6A5A"/>
                </a:solidFill>
                <a:latin typeface="IBM Plex Sans"/>
              </a:rPr>
              <a:t>naive force HURTS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0552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π₀-fast w/o 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30552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8B3C2"/>
                </a:solidFill>
                <a:latin typeface="IBM Plex Serif"/>
              </a:rPr>
              <a:t>31.0%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130552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FAST foil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090672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90672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π₀-base w/o 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90672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A838"/>
                </a:solidFill>
                <a:latin typeface="IBM Plex Serif"/>
              </a:rPr>
              <a:t>37.3%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090672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A838"/>
                </a:solidFill>
                <a:latin typeface="IBM Plex Sans"/>
              </a:rPr>
              <a:t>headline foil (typo: not w/ F)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050792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50792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π₀-base w/ 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050792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A838"/>
                </a:solidFill>
                <a:latin typeface="IBM Plex Serif"/>
              </a:rPr>
              <a:t>40.2%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050792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A838"/>
                </a:solidFill>
                <a:latin typeface="IBM Plex Sans"/>
              </a:rPr>
              <a:t>+2.9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010912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10912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ForceVLA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010912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FB4"/>
                </a:solidFill>
                <a:latin typeface="IBM Plex Serif"/>
              </a:rPr>
              <a:t>60.5%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010912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ECFB4"/>
                </a:solidFill>
                <a:latin typeface="IBM Plex Sans"/>
              </a:rPr>
              <a:t>+23.2 vs 37.3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PARTIAL  ·  RANK 5–6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Occlusion Partial · multi-task Partial/cite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68580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2_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96" y="1170432"/>
            <a:ext cx="6662287" cy="24505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3840480"/>
            <a:ext cx="68580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ble5_multi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3918073"/>
            <a:ext cx="6748272" cy="231369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406640" y="1115568"/>
            <a:ext cx="438912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280160"/>
            <a:ext cx="402336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#5 RC5 Partial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Occlusion stub: mask socket/plug ROI. Force-on ≥ force-off directional.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Paper: ForceVLA 90%; base w/F 30% (naive hurts).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#6 Tab.5 Partial/cite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Optional 2-task short joint FT; else cite 67.5 / 42.5 / 5 / 0.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86A5A"/>
                </a:solidFill>
                <a:latin typeface="IBM Plex Sans"/>
              </a:rPr>
              <a:t>Plug 100 both force methods — does not isolate FVLMoE.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USB 10% both — soft precision insert.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CAVEAT  ·  RANK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Pump Bottle: naive w/F 83 &gt; ForceVLA 67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Falsifier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Fig.5 Pump: fast 25/25; base w/o F 33; base w/F 83; ForceVLA 67. Naive state-concat beats FVLMoE by 16 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Replication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Replicate Plug/USB first. Treat Pump as a falsifier, not a confirmation. Do not bury it in speaker notes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Tab.5 regime shift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Under joint train Pump flips: ForceVLA 80 &gt; base w/F 50. Regime matters — log training regime.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Honesty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Never brief 'ForceVLA wins every contact task.' Avg +23.2 and Plug 80 survive; Pump does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COURSE SMOKE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RC0–RC7 · what Y / Partial / N 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078992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78992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Mono"/>
              </a:rPr>
              <a:t>RC0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078992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data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078992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078992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Schema {V^b,V^h,s,f∈R^6,a,L}; wrench dim=6; &lt;1h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1664207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664207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Mono"/>
              </a:rPr>
              <a:t>RC1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664207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FVLMoE vs π₀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664207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664207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3 methods × 1 task short; log force_fusion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2249424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249424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Mono"/>
              </a:rPr>
              <a:t>RC2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249424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fusion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249424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249424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early vs late; early_moe must not win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834639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2834639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Mono"/>
              </a:rPr>
              <a:t>RC3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834639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insertion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834639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834639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SR / align / peak|F| harness; no invented scores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419856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419856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Mono"/>
              </a:rPr>
              <a:t>RC4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419856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data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419856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Sans"/>
              </a:rPr>
              <a:t>Y/P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419856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{10,25,50} demos stub or coverage report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4005072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4005072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Mono"/>
              </a:rPr>
              <a:t>RC5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005072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occlusion 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005072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Sans"/>
              </a:rPr>
              <a:t>Part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005072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mask ROI; directional force-on ≥ off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4590288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590288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Mono"/>
              </a:rPr>
              <a:t>RC6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590288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router 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590288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Sans"/>
              </a:rPr>
              <a:t>Part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590288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top-1 hist; non-degenerate only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" y="5175504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5175504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B3C2"/>
                </a:solidFill>
                <a:latin typeface="IBM Plex Mono"/>
              </a:rPr>
              <a:t>RC7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175504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multi-task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175504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B3C2"/>
                </a:solidFill>
                <a:latin typeface="IBM Plex Sans"/>
              </a:rPr>
              <a:t>cite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5175504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optional 2-task stub; else Tab.5 cite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048" y="5760720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5760720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Mono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5760720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1EA"/>
                </a:solidFill>
                <a:latin typeface="IBM Plex Sans"/>
              </a:rPr>
              <a:t>paper Flexiv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5760720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5760720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8×4090 / 5-task 20-trial protocol out of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WHAT NOT TO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Smoke hygiene — refuse these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No Fig.5 laundry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Do not claim 60.5% absolute from 1-task Partial smoke. Label smoke SR as smoke.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No Tab.3 laundry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Do not claim 80% without matched task + fusion settings. Cite 0% if early MoE untrainable.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No stub = ForceVLA-Data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Sim/stub wrench ≠ ForceVLA-Data reproduction. Log force_source honestly.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No FAST+F substitute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π₀-fast + naive F regresses 31→14.2. Not a fair FVLMoE stand-in.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No paper-scale as smoke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8×4090 / 30k multi-task / full 5-task Flexiv eval = N for course.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A8B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No invented bars / π₀.₅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Quote prose/tables/printed labels. No π₀.₅ numbers. No invented BEHAVIOR SR.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NUMBERS TO CITE (LOCKED)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Do not round away — refuse laundering foils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Averages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ForceVLA 60.5; base w/o F 37.3; w/F 40.2; fast w/o F 31.0; w/F 14.2; Δ +23.2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Insertion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Plug 80; USB 25 (π₀ force-null). Peel 14.12 cm / 7 strokes.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Ablation / 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Tab.3: 45 / 55 / 0 / 60 / 80. Occlusion 90. Gen avg 63.78.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Data / 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244 traj / 140k / ~50/task. LR 2.5e-5→2.5e-6. Multi 30k/~12h 2×4090. Single 10k/~9h.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Hyperparams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 6→2048; MoE D=2048, E=4, k=1, 8 heads; action expert 1024; Adam β 0.9/0.95; bf16; clip 1.0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A8B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One-liner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Quote 60.5/37.3/+23.2, occlusion 90, early MoE 0 vs late 80; refuse FAST or π₀.₅ as headline foil.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Directional morals. Honest force_source. No Fig.5 reprint.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4F1EA"/>
                </a:solidFill>
                <a:latin typeface="IBM Plex Serif"/>
              </a:rPr>
              <a:t>Minimum: RC1 + RC2 + RC3 with Ablation Bot morals #1–#4.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Cite Pump #7. Partial occlusion/router. N paper-scale Flexiv.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6A5A"/>
                </a:solidFill>
                <a:latin typeface="IBM Plex Sans"/>
              </a:rPr>
              <a:t>If someone pastes smoke SR into a Fig.5 cell — that run fails Empiricist review.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ECFB4"/>
                </a:solidFill>
                <a:latin typeface="IBM Plex Sans"/>
              </a:rPr>
              <a:t>Next: Archaeologist — π₀ parent → late force → FVLMoE → FM; CLEAR vs MoPA / JEPA.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ForceVLA — Empiricist</dc:title>
  <dc:subject>arXiv 2505.22159v3 · Alternative approaches · LAST sheet · Club Pack</dc:subject>
  <dc:creator>Yu*, Liu*, Yu† et al.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