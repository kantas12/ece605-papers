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open. Claims under review: (1) force as first-class + FVLMoE improves contact-rich VLA vs π₀; (2) late ≫ early; (3) naive concat insufficient; (4) gen under shifts; (5) router phase-aware.</a:t>
            </a:r>
          </a:p>
          <a:p>
            <a:pPr/>
            <a:r>
              <a:t>• Verdict preview: accept late-fusion + MoE-over-concat on reported Flexiv suite. Do not upgrade to 'solved contact-rich foundation model' or 'beats π₀.₅'.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 — say this before the role-specific argument.</a:t>
            </a:r>
          </a:p>
          <a:p>
            <a:pPr/>
            <a:r>
              <a:t>• Late 6-axis F/T token + FVLMoE (E=4 top-1) after VLM → additive guide into π₀ FM action head.</a:t>
            </a:r>
          </a:p>
          <a:p>
            <a:pPr/>
            <a:r>
              <a:t>• Contact-rich insert/wipe/peel on Flexiv; ForceVLA-Data 244 traj / 140k / ~50/task.</a:t>
            </a:r>
          </a:p>
          <a:p>
            <a:pPr/>
            <a:r>
              <a:t>• Must-cites: 60.5 vs 37.3 (+23.2); naive w/F 40.2 (+2.9); early MoE 0% / late FVLMoE 80%; occlusion 90%; FAST+naive 31→14.2.</a:t>
            </a:r>
          </a:p>
          <a:p>
            <a:pPr/>
            <a:r>
              <a:t>• NOT MoPA-PD ancestor. NOT JEPA/WM child. No π₀.₅ bake-off.</a:t>
            </a:r>
          </a:p>
          <a:p>
            <a:pPr/>
            <a:r>
              <a:t>• Typo: 37.3 = w/o F. Pump: naive 83 &gt; ForceVLA 67. No invented BEHAVIOR SR.</a:t>
            </a:r>
          </a:p>
          <a:p>
            <a:pPr/>
            <a:r>
              <a:t>• Reviewer use: spine numbers are the accepted cites. Soft claims live after Tab.3 / Fig.5.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Grade the claims separately.</a:t>
            </a:r>
          </a:p>
          <a:p>
            <a:pPr/>
            <a:r>
              <a:t>• C1–C2 are the systems contribution. C3 needs the Pump caveat (naive 83 &gt; ForceVLA 67 on that column).</a:t>
            </a:r>
          </a:p>
          <a:p>
            <a:pPr/>
            <a:r>
              <a:t>• C4: ForceVLA gen avg 63.78%; Unstable Socket ForceVLA 20 vs fast w/F 30.</a:t>
            </a:r>
          </a:p>
          <a:p>
            <a:pPr/>
            <a:r>
              <a:t>• C5: App.C interpretive; no expert-count / top-k ablation.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3 §5.4. Highest-value single rerun is the 0% cell — if collapse vs architectural zero, early-vs-late conclusion softens.</a:t>
            </a:r>
          </a:p>
          <a:p>
            <a:pPr/>
            <a:r>
              <a:t>• Do not assume 'concate after VLM' == §5.1 state-concat checkpoint. Different sentences in the paper.</a:t>
            </a:r>
          </a:p>
          <a:p>
            <a:pPr/>
            <a:r>
              <a:t>• Pairwise: late concat vs FVLMoE is cleanest within-stage contrast.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 5 printed labels (Ablation Bot authoritative).</a:t>
            </a:r>
          </a:p>
          <a:p>
            <a:pPr/>
            <a:r>
              <a:t>• FAST degradation 31→14.2 is real and important; representation-probe dissection is absent.</a:t>
            </a:r>
          </a:p>
          <a:p>
            <a:pPr/>
            <a:r>
              <a:t>• Wipe Board-1: fast w/o F 91 beats ForceVLA 64 — paper states FAST's comparative advantage is wiping.</a:t>
            </a:r>
          </a:p>
          <a:p>
            <a:pPr/>
            <a:r>
              <a:t>• Peel SR already high without FVLMoE (87/93/100); Table 1 continuous metrics still separate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Cucumber Table 1 supports continuous contact control, not only binary insert: 14.12 cm / 7 strokes vs 13.17/10 vs 10.27/14.</a:t>
            </a:r>
          </a:p>
          <a:p>
            <a:pPr/>
            <a:r>
              <a:t>• Accept late-fusion + MoE-over-concat claims on the reported Flexiv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 list is complete enough for a fair review.</a:t>
            </a:r>
          </a:p>
          <a:p>
            <a:pPr/>
            <a:r>
              <a:t>• Fig.5 per-task bars are printed; averages + plug-80 + tables are the robust cites if OCR disputes a secondary bar.</a:t>
            </a:r>
          </a:p>
          <a:p>
            <a:pPr/>
            <a:r>
              <a:t>• No expert-count / top-k / force-noise ablations. Fixed hyperparameters in Table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2. Authors claim superior generalization; they do not discuss naive-force average drops or Unstable best cell.</a:t>
            </a:r>
          </a:p>
          <a:p>
            <a:pPr/>
            <a:r>
              <a:t>• Reviewer should: credit occlusion; withhold blanket 'robust under all physical perturbations'.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D. Not a controlled pair vs Fig.5 (joint vs per-task).</a:t>
            </a:r>
          </a:p>
          <a:p>
            <a:pPr/>
            <a:r>
              <a:t>• Soft claim: do not treat Tab.5 plug 100 as FVLMoE-only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review checklist.</a:t>
            </a:r>
          </a:p>
          <a:p>
            <a:pPr/>
            <a:r>
              <a:t>• Hyperparams fixed (Table 4): force 6→2048; MoE D=2048; action expert 1024.</a:t>
            </a:r>
          </a:p>
          <a:p>
            <a:pPr/>
            <a:r>
              <a:t>• Training stated (App B): single-task ~9h/1×4090/10k; multi-task ~12h/2×4090/30k.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close / one-liner from pack.</a:t>
            </a:r>
          </a:p>
          <a:p>
            <a:pPr/>
            <a:r>
              <a:t>• Hand Empiricist the Ablation Bot ranks: Tab.3 first, then Insert Plug, USB null, averages, occlusion, multi-task, Pump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Reviewer. Preserve typo fix: 37.3 = w/o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6A5A"/>
                </a:solidFill>
                <a:latin typeface="IBM Plex Sans"/>
              </a:rPr>
              <a:t>LAST SHEET  ·  ALTERNATIVE APPROACHES  ·  SCIENTIFIC REVIEWER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21792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4F1EA"/>
                </a:solidFill>
                <a:latin typeface="IBM Plex Serif"/>
              </a:rPr>
              <a:t>Late MoE is the
real contribution.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2860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Naive force is a straw improvement. Grade HIGH for Alt contact-rich syllabus; narrow on embodiment and open-world. Soft: multi-task USB 10%, unstable socket, no π₀.₅.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3383280"/>
            <a:ext cx="219456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E8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38328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Tab.3  0% → 80%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383280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33832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60.5 vs 37.3 / 40.2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3383280"/>
            <a:ext cx="219456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3E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338328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Occlusion 90%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383280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C4B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33832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USB multi 10%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402336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able3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958" y="4078224"/>
            <a:ext cx="2477427" cy="2176272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943600" y="4023360"/>
            <a:ext cx="58521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ig1_fail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835" y="4078224"/>
            <a:ext cx="3847688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SHARED SPINE  ·  TATTOO ON EVERY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Five facts that do not change with the seat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43584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6A5A"/>
                </a:solidFill>
                <a:latin typeface="IBM Plex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207008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Late 6-axis F/T + FVLMoE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499616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After VLM (PaliGemma/SigLIP): project wrench → force token → FVLMoE (E=4, top-1) → additive guide into π₀ flow-matching action head. Force stays 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57984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67712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6A5A"/>
                </a:solidFill>
                <a:latin typeface="IBM Plex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231136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Contact-rich on Flexiv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523744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Insert USB / plug, pump bottle, wipe board, peel cucumber. ForceVLA-Data: 244 traj / ~140k steps / ~50 demos per task. Quest3 teleop.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182112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6A5A"/>
                </a:solidFill>
                <a:latin typeface="IBM Plex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55264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Must-cites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47872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Avg 60.5 vs π₀-base w/o F 37.3 (+23.2). Naive w/ F only 40.2 (+2.9). Early MoE-before-VLM 0% → late FVLMoE 80% (Tab.3). Occlusion 90%. FAST+naive force 31.0→14.2.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206240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15968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6A5A"/>
                </a:solidFill>
                <a:latin typeface="IBM Plex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CLEAR contrasts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72000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NOT MoPA-PD ancestor (MoPA = MP privilege→vision student; ForceVLA = deploy force into VLA). NOT JEPA/WM child. No π₀.₅ bake-off — do not invent.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230368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40096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6A5A"/>
                </a:solidFill>
                <a:latin typeface="IBM Plex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03520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Number hygiene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96128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Typo fix: 37.3 = w/o F (not w/ F). Preserve paper numbers. No invented BEHAVIOR SR. Pump caveat: naive w/F 83 &gt; ForceVLA 67 — do not overclaim.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CLAIMS UNDER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Five claims. Grade each, not the abstract alone.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15568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15568"/>
            <a:ext cx="64008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C1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25295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Force + FVLMoE ≫ π₀ baselines on contact-rich 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57276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ECFB4"/>
                </a:solidFill>
                <a:latin typeface="IBM Plex Sans"/>
              </a:rPr>
              <a:t>HOLDS — 60.5 vs 37.3/40.2; plug 80%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21408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21408"/>
            <a:ext cx="64008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FB4"/>
                </a:solidFill>
                <a:latin typeface="IBM Plex Mono"/>
              </a:rPr>
              <a:t>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31136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Late fusion ≫ early into pretrained VLM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57860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ECFB4"/>
                </a:solidFill>
                <a:latin typeface="IBM Plex Sans"/>
              </a:rPr>
              <a:t>HOLDS — Tab.3 MoE-before 0% vs ForceVLA 80%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127248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127248"/>
            <a:ext cx="64008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36976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Naive concat insufficient vs MoE 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58444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A838"/>
                </a:solidFill>
                <a:latin typeface="IBM Plex Sans"/>
              </a:rPr>
              <a:t>HOLDS on avg (+2.9 vs +23.2); soft on Pump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133088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33088"/>
            <a:ext cx="64008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C4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242816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Generalizes under object/height/occlusion/unstable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59028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A838"/>
                </a:solidFill>
                <a:latin typeface="IBM Plex Sans"/>
              </a:rPr>
              <a:t>PARTIAL — occlusion 90%; unstable not best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138928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138928"/>
            <a:ext cx="64008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B0F5"/>
                </a:solidFill>
                <a:latin typeface="IBM Plex Mono"/>
              </a:rPr>
              <a:t>C5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248656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Router learns phase-aware specialization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59612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B0F5"/>
                </a:solidFill>
                <a:latin typeface="IBM Plex Sans"/>
              </a:rPr>
              <a:t>INTERPRETIVE — Fig.9; Expert-0 generalist is hypothesis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KNIFE  ·  TABLE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Early MoE destroys the VLM. Late FVLMoE wins.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15568"/>
            <a:ext cx="576072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ble3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39578"/>
            <a:ext cx="5650992" cy="496405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55080" y="1115568"/>
            <a:ext cx="544068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280160"/>
            <a:ext cx="507492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Causal knife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4F1EA"/>
                </a:solidFill>
                <a:latin typeface="IBM Plex Serif"/>
              </a:rPr>
              <a:t>MoE before VLM → 0%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3ECFB4"/>
                </a:solidFill>
                <a:latin typeface="IBM Plex Serif"/>
              </a:rPr>
              <a:t>ForceVLA (late) → 80%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Same late stage: concat 60 → FVLMoE 80 (+20 pp).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Early linear 55%; baseline 45%.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Softness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Task identity / trial N for Tab.3 underspecified vs main protocol. Numeric match to Insert Plug is correspondence, not a stated identity.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4B0F5"/>
                </a:solidFill>
                <a:latin typeface="IBM Plex Sans"/>
              </a:rPr>
              <a:t>Authors' rule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Introduce force AFTER VLM. How you fuse beats presence.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MAIN MATRIX  ·  FIG.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Large gap. Force presence is not enough.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768096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5_mai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" y="1677011"/>
            <a:ext cx="7571232" cy="41349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83879" y="1115568"/>
            <a:ext cx="3611880" cy="5257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80160"/>
            <a:ext cx="329184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What holds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60.5 vs 37.3 (+23.2). Clear baseline matrix incl. π₀-fast.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Plug story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80 vs 60 vs 45. Naive helps; FVLMoE adds +20.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USB soft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25 vs 5/5/0/0. Force on/off null for both π₀.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4B0F5"/>
                </a:solidFill>
                <a:latin typeface="IBM Plex Sans"/>
              </a:rPr>
              <a:t>Pump falsifier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Naive w/F 83 &gt; ForceVLA 67. Do not overclaim every column.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WHAT 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Systems/methods preprint — accept these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Avg gap consistent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60.5 vs 37.3 / 40.2 with π₀-base and π₀-fast ± force. Foil set is clear; OpenVLA is citation-only.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Tab.3 causal knife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Early MoE-before-VLM 0% vs late FVLMoE 80%. Design rule: force after VLM; MoE over concat.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Occlusion 90%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Strong multimodal story when vision degrades. Naive force can hurt under shift (base 60→30).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Honest limitations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Estimated wrench; expensive F/T platforms; accessibility as future work. Related-work separates VLA / contact / MoE.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WHAT IS SOFT / THREATENED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Grade these without theatrical rejection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Multi-task USB 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Tab.5 ForceVLA matches base w/F at 10% USB. Force MoE is not a universal precision-insert fix.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Unstable socket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ForceVLA 20%; π₀-fast w/F 30% best. Gen claim is not uniform across conditions.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No π₀.₅ / OFT bake-off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π₀.₅ cited [21] only. No OpenVLA-OFT / 2025 VLA heads. Do not invent a foundation-model ranking.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Small N / one body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~50 demos/task; Flexiv only; Tab.3 task/N underspecified; router Expert-0 role interpretive; no CI/seeds.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GENERALIZATION  ·  TABLE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Occlusion strong. Unstable soft. Naive can hurt.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7589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ble2_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" y="1340120"/>
            <a:ext cx="7479792" cy="275129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434840"/>
            <a:ext cx="75895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6_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827" y="4489704"/>
            <a:ext cx="4653944" cy="181051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092440" y="1115568"/>
            <a:ext cx="3703320" cy="5257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280160"/>
            <a:ext cx="338328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ForceVLA gen avg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63.78%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8A838"/>
                </a:solidFill>
                <a:latin typeface="IBM Plex Sans"/>
              </a:rPr>
              <a:t>Occlusion 90%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Obj Gen.2 40%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Height 88.89% (tie w/ fast w/o F)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Threats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Unstable 20 &lt; fast w/F 30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Naive force lowers both π₀ gen averages.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MULTI-TASK  ·  TABLE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Joint regime. Plug saturates. USB stays soft.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15568"/>
            <a:ext cx="73152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ble5_multi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343384"/>
            <a:ext cx="7205472" cy="247044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84048" y="4206240"/>
            <a:ext cx="5650992" cy="1033271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4206240"/>
            <a:ext cx="64008" cy="1033271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31596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ForceVLA avg 67.5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608576"/>
            <a:ext cx="5358383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Pump/wipe 80; plug 100; USB 10. Beats base w/F 42.5 and fast 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5" y="4206240"/>
            <a:ext cx="5650992" cy="1033271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5" y="4206240"/>
            <a:ext cx="64008" cy="1033271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431596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Does not isolate FVLMoE on plug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4608576"/>
            <a:ext cx="5358383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Base w/F also 100% plug under joint train. USB ties at 10%.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5367527"/>
            <a:ext cx="5650992" cy="1033271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5367527"/>
            <a:ext cx="64008" cy="1033271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477255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Pump reversal disappears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769864"/>
            <a:ext cx="5358383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Fig.5 Pump naive&gt;ForceVLA; Tab.5 Pump ForceVLA 80 &gt; base w/F 50. Regime matters.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3055" y="5367527"/>
            <a:ext cx="5650992" cy="1033271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3055" y="5367527"/>
            <a:ext cx="64008" cy="1033271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5477255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π₀-fast joint collapse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5769864"/>
            <a:ext cx="5358383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Both fast variants 0% average. Capacity story is plausible, not dissected.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ARCHITECTURE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Late force token into FM — what is CLEAR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731520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3_fvlmoe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453451"/>
            <a:ext cx="7205472" cy="458203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18120" y="1115568"/>
            <a:ext cx="3977639" cy="5257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280160"/>
            <a:ext cx="365760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CLEAR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Builds on π₀ FM + PaliGemma. Force after VLM. E=4 top-1. Additive into FM suffix.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CLEAR foil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π₀-base / π₀-fast ± force. Not OpenVLA tables.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ABSENT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π₀.₅ bake-off. Expert-count sweep. Force-noise ablation. Sim split.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4B0F5"/>
                </a:solidFill>
                <a:latin typeface="IBM Plex Sans"/>
              </a:rPr>
              <a:t>FALSE ancestry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Not MoPA-PD. Not JEPA/WM.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Accept late FVLMoE. Refuse foundation-model upgrade.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1143000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4F1EA"/>
                </a:solidFill>
                <a:latin typeface="IBM Plex Serif"/>
              </a:rPr>
              <a:t>Systems/methods preprint for force-augmented VLA fusion.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3ECFB4"/>
                </a:solidFill>
                <a:latin typeface="IBM Plex Sans"/>
              </a:rPr>
              <a:t>ACCEPT: late fusion ≫ early; FVLMoE ≫ naive concat on reported Flexiv contact suite; occlusion story; honest hardware limitations.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6A5A"/>
                </a:solidFill>
                <a:latin typeface="IBM Plex Sans"/>
              </a:rPr>
              <a:t>WITHHOLD: solved contact-rich foundation model; beats π₀.₅; universal insert fix (USB 10% multi-task); uniform gen (unstable socket); causal Expert-0 labels.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8A838"/>
                </a:solidFill>
                <a:latin typeface="IBM Plex Sans"/>
              </a:rPr>
              <a:t>Syllabus grade: HIGH for Alternative approaches / contact-rich. Embodiment and open-world: NARROW.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One-liner: Late FVLMoE is the real contribution; naive force is a straw 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Grade the fusion. Keep the numbers honest.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4F1EA"/>
                </a:solidFill>
                <a:latin typeface="IBM Plex Serif"/>
              </a:rPr>
              <a:t>Tab.3 0→80 and +23.2 avg are enough to accept the method claim.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Soft USB, unstable socket, Pump reversal, and missing π₀.₅ bake-off keep the paper in Alt-approaches — not foundation coronation.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6A5A"/>
                </a:solidFill>
                <a:latin typeface="IBM Plex Sans"/>
              </a:rPr>
              <a:t>Next: Empiricist smokes Ablation Bot ranks without reprinting Fig.5 as course smoke.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ForceVLA — Scientific Reviewer</dc:title>
  <dc:subject>arXiv 2505.22159v3 · Alternative approaches · LAST sheet · Club Pack</dc:subject>
  <dc:creator>Yu*, Liu*, Yu† et al.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