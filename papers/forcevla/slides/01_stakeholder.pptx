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open. LAST Alt approaches row on the undated sheet. All seats empty — Club Pack, equal depth.</a:t>
            </a:r>
          </a:p>
          <a:p>
            <a:pPr/>
            <a:r>
              <a:t>• Paper: ForceVLA. arXiv 2505.22159v3 (18 Sep 2025). Preprint under review.</a:t>
            </a:r>
          </a:p>
          <a:p>
            <a:pPr/>
            <a:r>
              <a:t>• Buy: late force token + FVLMoE on π₀-class FM when reliable 6-axis F/T exists and tasks are insert/wipe/press/peel.</a:t>
            </a:r>
          </a:p>
          <a:p>
            <a:pPr/>
            <a:r>
              <a:t>• Fig.1: vision-only fails misaligned plug; ForceVLA corrects via force → success.</a:t>
            </a:r>
          </a:p>
          <a:p>
            <a:pPr/>
            <a:r>
              <a:t>• Chips are paper numbers: 60.5 vs 37.3 (+23.2); naive concat +2.9; Tab.3 early MoE 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Late 6-axis F/T token + FVLMoE (E=4 top-1) after VLM → additive guide into π₀ FM action head.</a:t>
            </a:r>
          </a:p>
          <a:p>
            <a:pPr/>
            <a:r>
              <a:t>• Contact-rich insert/wipe/peel on Flexiv; ForceVLA-Data 244 traj / 140k / ~50/task.</a:t>
            </a:r>
          </a:p>
          <a:p>
            <a:pPr/>
            <a:r>
              <a:t>• Must-cites: 60.5 vs 37.3 (+23.2); naive w/F 40.2 (+2.9); early MoE 0% / late FVLMoE 80%; occlusion 90%; FAST+naive 31→14.2.</a:t>
            </a:r>
          </a:p>
          <a:p>
            <a:pPr/>
            <a:r>
              <a:t>• NOT MoPA-PD ancestor. NOT JEPA/WM child. No π₀.₅ bake-off.</a:t>
            </a:r>
          </a:p>
          <a:p>
            <a:pPr/>
            <a:r>
              <a:t>• Typo: 37.3 = w/o F. Pump: naive 83 &gt; ForceVLA 67. No invented BEHAVIOR SR.</a:t>
            </a:r>
          </a:p>
          <a:p>
            <a:pPr/>
            <a:r>
              <a:t>• Stakeholder use: these five lines are the buying brief. Rest is when to buy, when to walk, and which risks you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schedule ForceVLA as LAST Alternative approaches.</a:t>
            </a:r>
          </a:p>
          <a:p>
            <a:pPr/>
            <a:r>
              <a:t>• CLEAR contrast with MoPA-PD: opposite mechanism, same syllabus slot.</a:t>
            </a:r>
          </a:p>
          <a:p>
            <a:pPr/>
            <a:r>
              <a:t>• CLEAR foil is vision-only π₀, not OpenVLA tables and not π₀.₅ (unmeasured).</a:t>
            </a:r>
          </a:p>
          <a:p>
            <a:pPr/>
            <a:r>
              <a:t>• After MoPA's train-time classical privilege, stakeholders ask: what do we buy for real F/T robots already on OpenPI/π₀?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Fig. 3 left to right.</a:t>
            </a:r>
          </a:p>
          <a:p>
            <a:pPr/>
            <a:r>
              <a:t>• VLM fuses vision+language first. Linear φ_F: R^6 → 2048 force token.</a:t>
            </a:r>
          </a:p>
          <a:p>
            <a:pPr/>
            <a:r>
              <a:t>• FVLMoE: concat → MHSA encoder → 4 MLP experts, top-1 router → project to action expert width.</a:t>
            </a:r>
          </a:p>
          <a:p>
            <a:pPr/>
            <a:r>
              <a:t>• Additive G_FVLMoE into FM denoising suffix with proprio + noisy actions. Closed loop via new wrench each step.</a:t>
            </a:r>
          </a:p>
          <a:p>
            <a:pPr/>
            <a:r>
              <a:t>• Do not pitch this as switching FM↔FAST. ForceVLA keeps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 / walk. Left column is the only honest purchase.</a:t>
            </a:r>
          </a:p>
          <a:p>
            <a:pPr/>
            <a:r>
              <a:t>• Open-world π₀.₅ homes without F/T: keep that stack for language; add ForceVLA-style fusion only where F/T exists. Paper did not beat π₀.₅.</a:t>
            </a:r>
          </a:p>
          <a:p>
            <a:pPr/>
            <a:r>
              <a:t>• Code/data 'will be released' — verify github.com/ft-robotic/ForceVLA + sites.google.com/view/forcevla2025 before roadmap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5 averages and must-cites.</a:t>
            </a:r>
          </a:p>
          <a:p>
            <a:pPr/>
            <a:r>
              <a:t>• ForceVLA 60.5; base w/o F 37.3; base w/F 40.2; fast w/o F 31.0; fast w/F 14.2.</a:t>
            </a:r>
          </a:p>
          <a:p>
            <a:pPr/>
            <a:r>
              <a:t>• Insert Plug: 80 / 60 / 45 (ForceVLA / base w/F / base w/o F).</a:t>
            </a:r>
          </a:p>
          <a:p>
            <a:pPr/>
            <a:r>
              <a:t>• Pump caveat for honesty later: base w/F 83 &gt; ForceVLA 67 — do not sell 'wins every column'.</a:t>
            </a:r>
          </a:p>
          <a:p>
            <a:pPr/>
            <a:r>
              <a:t>• USB: ForceVLA 25; both base 5; both fast 0. Still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all four risks. Do not soften.</a:t>
            </a:r>
          </a:p>
          <a:p>
            <a:pPr/>
            <a:r>
              <a:t>• Limitations section: estimated wrench; high-cost integrated F/T platforms; future lower-cost external F/T.</a:t>
            </a:r>
          </a:p>
          <a:p>
            <a:pPr/>
            <a:r>
              <a:t>• Code/data release status: verify before committing product timeline.</a:t>
            </a:r>
          </a:p>
          <a:p>
            <a:pPr/>
            <a:r>
              <a:t>• Product one-liner: modality productization — keep π₀ FM; ship F/T + FVLMoE when contact is the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4 task gallery. Real Flexiv Rizon + Dahuan gripper + 6-axis F/T.</a:t>
            </a:r>
          </a:p>
          <a:p>
            <a:pPr/>
            <a:r>
              <a:t>• Eval: 20 trials insert/pump; 10 wipe; 15 peel × 15 strokes.</a:t>
            </a:r>
          </a:p>
          <a:p>
            <a:pPr/>
            <a:r>
              <a:t>• Train ~50 demos/task. Quest3 teleop, 5 expert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 / Fig. 6. Occlusion is the stakeholder demo reel.</a:t>
            </a:r>
          </a:p>
          <a:p>
            <a:pPr/>
            <a:r>
              <a:t>• Naive force drops occlusion on π₀-base 60→30. Fusion method matters under shift too.</a:t>
            </a:r>
          </a:p>
          <a:p>
            <a:pPr/>
            <a:r>
              <a:t>• Obj Gen.2 (plug type): ForceVLA 40; fast w/o F 35; fast w/F collapses to 5.</a:t>
            </a:r>
          </a:p>
          <a:p>
            <a:pPr/>
            <a:r>
              <a:t>• Do not claim ForceVLA wins Unstable Socket.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labels only when briefing siblings in /workspace/distill-mopa-quiet, pi0-quiet, fast-quiet.</a:t>
            </a:r>
          </a:p>
          <a:p>
            <a:pPr/>
            <a:r>
              <a:t>• Mythbust: adding force ≠ switching FM↔FAST for ForceVLA itself.</a:t>
            </a:r>
          </a:p>
          <a:p>
            <a:pPr/>
            <a:r>
              <a:t>• Mythbust: MoPA-PD is contrast, not ancestor.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close.</a:t>
            </a:r>
          </a:p>
          <a:p>
            <a:pPr/>
            <a:r>
              <a:t>• Product one-liner from pack: modality productization play.</a:t>
            </a:r>
          </a:p>
          <a:p>
            <a:pPr/>
            <a:r>
              <a:t>• Stakeholder one-liner: Schedule as LAST Alt row to lock force-in-VLA; buy late MoE fusion, not a claim that vision-only homes are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End. Hand off to Reviewer seat with the same spine numbers.</a:t>
            </a:r>
          </a:p>
          <a:p>
            <a:pPr/>
            <a:r>
              <a:t>• Preserve paper numbers. Typo: 37.3 = w/o F.</a:t>
            </a:r>
          </a:p>
          <a:p>
            <a:pPr/>
            <a:r>
              <a:t>• Pump Bottle: naive w/F 83 &gt; ForceVLA 67 — honest caveat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LAST SHEET  ·  ALTERNATIVE APPROACHES  ·  STAKEHOLDER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21792"/>
            <a:ext cx="7498079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4F1EA"/>
                </a:solidFill>
                <a:latin typeface="IBM Plex Serif"/>
              </a:rPr>
              <a:t>Buy late MoE
when F/T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33172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ForceVLA keeps your π₀ FM controller and ships 6-axis force through FVLMoE. Yu*, Liu*, Yu† et al. — arXiv 2505.22159v3. LAST Alt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70332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70332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60.5  vs  37.3  (+23.2)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70332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370332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naive F  +2.9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70332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3E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70332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early MoE → 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297680"/>
            <a:ext cx="71323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Don't concat-only. FAST + naive force hurts (31→14.2). Pitch contact-rich specialist augmentation — not a π₀.₅ open-world replacement.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097280"/>
            <a:ext cx="40233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g1_fail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984" y="2505094"/>
            <a:ext cx="3913632" cy="2213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Late 6-axis F/T + FVLMoE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After VLM (PaliGemma/SigLIP): project wrench → force token → FVLMoE (E=4, top-1) → additive guide into π₀ flow-matching action head. Force stays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Contact-rich on Flexiv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Insert USB / plug, pump bottle, wipe board, peel cucumber. ForceVLA-Data: 244 traj / ~140k steps / ~50 demos per task. Quest3 teleop.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Must-cites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Avg 60.5 vs π₀-base w/o F 37.3 (+23.2). Naive w/ F only 40.2 (+2.9). Early MoE-before-VLM 0% → late FVLMoE 80% (Tab.3). Occlusion 90%. FAST+naive force 31.0→14.2.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CLEAR contrasts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MoPA-PD ancestor (MoPA = MP privilege→vision student; ForceVLA = deploy force into VLA). NOT JEPA/WM child. No π₀.₅ bake-off — do not invent.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 hygiene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Typo fix: 37.3 = w/o F (not w/ F). Preserve paper numbers. No invented BEHAVIOR SR. Pump caveat: naive w/F 83 &gt; ForceVLA 67 — do not overclaim.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WHY LAST ALT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After MoPA-PD, lock the deploy-side force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MoPA was train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Prior Alt row: classical MP at train → vision student. ForceVLA is the complementary arrow: add a sensor modality to a deployed VLA.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Vision-only π₀ still fails 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Misaligned insert, occlusion, surface force. Semantic VLAs inherit open-world strength and still jam on wrench-dominated phases.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No new foundation pretrain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Keep PaliGemma + FM action expert. Productize F/T + late MoE. HIGH force/contact flag without restarting pretrain.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Closes the Alt column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Sheet ends with force-in-VLA before pure open-world weeks. Stakeholder needs a buy/walk, not a genealogy lecture.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FIG. 3  ·  THE PRODUCT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Late force. Sparse MoE. FM head stays.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3_fvlmo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807" y="1170432"/>
            <a:ext cx="6082481" cy="386791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5212080"/>
            <a:ext cx="3724656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5212080"/>
            <a:ext cx="64008" cy="12344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3218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After VLM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14416"/>
            <a:ext cx="3432048" cy="7223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 token lands post PaliGemma. Pretrained VL geometry preserved.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6720" y="5212080"/>
            <a:ext cx="3724656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6720" y="5212080"/>
            <a:ext cx="64008" cy="123444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53218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E=4 top-1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5614416"/>
            <a:ext cx="3432048" cy="7223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FVLMoE routes VL+force; residual → 1024 → additive FM suffix.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9391" y="5212080"/>
            <a:ext cx="3724656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391" y="5212080"/>
            <a:ext cx="64008" cy="1234440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1" y="53218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Not FAST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2271" y="5614416"/>
            <a:ext cx="3432048" cy="7223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ForceVLA keeps flow matching. π₀-fast is a baseline foil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BUY / WALK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Buy late MoE when F/T exists. Walk concat-only.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5577840" cy="43891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521208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IBM Plex Sans"/>
              </a:rPr>
              <a:t>BUY THE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783080"/>
            <a:ext cx="516636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Reliable 6-axis F/T on the arm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Integrated or retrofit. Tasks = insert / wipe / press / peel-like.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Already shipping π₀ / OpenPI FM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Keep the controller. Add late force token + FVLMoE. Collect sync F/T demos (~50/task here).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Contact is the failure mode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Vision-only stacks jam on alignment / occlusion / compliance. That is the buy.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170432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170432"/>
            <a:ext cx="5669280" cy="43891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170432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WALK / DO NOT BOLT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83080"/>
            <a:ext cx="525780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No F/T hardware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Pattern blocked. Estimated wrench / tactile skins are research paths (paper limitation).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Just concat force to state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Paper: +2.9 pts only (37.3→40.2). Budget the MoE / late-fusion engineering.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FAST-only compact policies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Naive force hurts π₀-fast 31.0→14.2. Don't bolt F/T without capacity / pretrain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FIG. 5  ·  THE EFFICIENCY 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Fusion quality beats force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77240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5_mai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652042"/>
            <a:ext cx="7662672" cy="41848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75320" y="1115568"/>
            <a:ext cx="352044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280160"/>
            <a:ext cx="320040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Headline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4F1EA"/>
                </a:solidFill>
                <a:latin typeface="IBM Plex Serif"/>
              </a:rPr>
              <a:t>60.5 vs 37.3  (+23.2)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vs π₀-base w/o F. Typo fix: 37.3 is w/o F.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Naive concat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4F1EA"/>
                </a:solidFill>
                <a:latin typeface="IBM Plex Serif"/>
              </a:rPr>
              <a:t>40.2  (+2.9 only)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Presence ≠ integration.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FAST warning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31.0 → 14.2 when force is bolted naively.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Plug headline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ForceVLA 80% on Insert Plug.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RISKS YOU WILL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Four costs the abstract does not waive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F/T cost + estimated wrench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Paper uses estimated external wrench on integrated Flexiv-class sensing. Calibration and accessibility are stated limitations.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Sync demos are not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ForceVLA-Data: 244 traj / ~50 per task. OXE alone does not give you wrench-synced contact demos.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USB and unstable socket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Multi-task USB stays at 10%. Unstable Socket: ForceVLA 20% (π₀-fast w/F best at 30%). Not a universal fix.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Not a π₀.₅ replacement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Pitch contact-rich specialist augmentation. Do not brief open-world homes as solved. No π₀.₅ numbers in this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FIG. 4  ·  THE TASK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contact-rich Flexiv tasks — what you are buying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4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142" y="1170432"/>
            <a:ext cx="7221810" cy="35478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4937760"/>
            <a:ext cx="3724656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4937760"/>
            <a:ext cx="64008" cy="1417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04748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Insert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340096"/>
            <a:ext cx="3432048" cy="9052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USB + plug. Alignment + force-controlled seating. Plug is the 80% story; USB stays hard.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6720" y="4937760"/>
            <a:ext cx="3724656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6720" y="4937760"/>
            <a:ext cx="64008" cy="141732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504748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Press / wipe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5340096"/>
            <a:ext cx="3432048" cy="9052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Pump bottle; wipe motion vs full erase. Continuous contact force.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9391" y="4937760"/>
            <a:ext cx="3724656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391" y="4937760"/>
            <a:ext cx="64008" cy="1417320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1" y="504748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Surface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2271" y="5340096"/>
            <a:ext cx="3432048" cy="9052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Cucumber peel: length↑ / strokes↓. Continuous tool force, not binary insert.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OCCLUSION IS THE PRODUCT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When vision fails, force must carry — Tab.2 90%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6949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6_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339630"/>
            <a:ext cx="6839712" cy="266083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343400"/>
            <a:ext cx="6949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ble2_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94" y="4398264"/>
            <a:ext cx="5170730" cy="19019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52360" y="1115568"/>
            <a:ext cx="434340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280160"/>
            <a:ext cx="402336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Visual Occlusion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4F1EA"/>
                </a:solidFill>
                <a:latin typeface="IBM Plex Serif"/>
              </a:rPr>
              <a:t>ForceVLA  90%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π₀-base w/o F  60%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86A5A"/>
                </a:solidFill>
                <a:latin typeface="IBM Plex Sans"/>
              </a:rPr>
              <a:t>π₀-base w/ F  30%  (naive hurts)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Gen average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4F1EA"/>
                </a:solidFill>
                <a:latin typeface="IBM Plex Serif"/>
              </a:rPr>
              <a:t>ForceVLA  63.78%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Unstable Socket still weak: ForceVLA 20; fast w/F 30 best.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Buy message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 substitutes when wrist cam / clutter occludes contact.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SIBLING CONTRAST (CLEAR LABELS)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Same Alt row as MoPA. Opposite arrow. Not a JEPA child.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vs MoPA-PD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MoPA: privileged classical MP at train → distill to vision. ForceVLA: deploy force modality into a VLA. Shared syllabus slot; inverse mechanism.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vs π₀ / 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π₀ is parent foil / backbone. π₀-fast is baseline family. ForceVLA keeps FM. Naive force on FAST hurts.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vs π₀.₅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Cited in related work only. No bake-off. Do not invent wins/losses. Open-world language stays π₀.₅-class; force is contact specialist.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vs JEPA / WM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CLEAR contrast poles only. ForceVLA is not a world-model paper. Do not invent ancestry.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DECISION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What to say in the LAST Alt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LAST Alt approaches row. Locks force-in-VLA before closing the sheet.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Late MoE fusion pattern on π₀ FM when F/T exists and contact fails vision-only.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 not buy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Concat-only. FAST+naive force. Claim that vision-only homes are solved.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One-liner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ForceVLA is modality productization: keep π₀ FM; ship F/T + FVLMoE when contact is the failure mode.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Buy late MoE. Refuse concat-only. No π₀.₅ laundry.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4F1EA"/>
                </a:solidFill>
                <a:latin typeface="IBM Plex Serif"/>
              </a:rPr>
              <a:t>ForceVLA = π₀ + late 6D force + FVLMoE → contact-rich Flexiv policy.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Say: 60.5 vs 37.3 (+23.2). Naive +2.9. Early MoE 0%. Occlusion 90%. FAST+F hurts.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6A5A"/>
                </a:solidFill>
                <a:latin typeface="IBM Plex Sans"/>
              </a:rPr>
              <a:t>Do not say: beats π₀.₅; MoPA ancestor; JEPA child; invented BEHAVIOR SR; wins Pump vs naive.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A838"/>
                </a:solidFill>
                <a:latin typeface="IBM Plex Sans"/>
              </a:rPr>
              <a:t>Next: Scientific Reviewer grades late MoE as the real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ForceVLA — Stakeholder</dc:title>
  <dc:subject>arXiv 2505.22159v3 · Alternative approaches · LAST sheet · Club Pack</dc:subject>
  <dc:creator>Yu*, Liu*, Yu† et al.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