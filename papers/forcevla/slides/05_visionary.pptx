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open. Constraint: BEHAVIOR contact-rich focus; skip Discord/Drive deliverables.</a:t>
            </a:r>
          </a:p>
          <a:p>
            <a:pPr/>
            <a:r>
              <a:t>• Durable idea: keep modern VLA/FM; late F/T + sparse MoE for contact phases.</a:t>
            </a:r>
          </a:p>
          <a:p>
            <a:pPr/>
            <a:r>
              <a:t>• Do not invent official BEHAVIOR'25/'26 ForceVLA baseline status or π₀.₅ numerical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Shared spine — say this before the role-specific argument.</a:t>
            </a:r>
          </a:p>
          <a:p>
            <a:pPr/>
            <a:r>
              <a:t>• Late 6-axis F/T token + FVLMoE (E=4 top-1) after VLM → additive guide into π₀ FM action head.</a:t>
            </a:r>
          </a:p>
          <a:p>
            <a:pPr/>
            <a:r>
              <a:t>• Contact-rich insert/wipe/peel on Flexiv; ForceVLA-Data 244 traj / 140k / ~50/task.</a:t>
            </a:r>
          </a:p>
          <a:p>
            <a:pPr/>
            <a:r>
              <a:t>• Must-cites: 60.5 vs 37.3 (+23.2); naive w/F 40.2 (+2.9); early MoE 0% / late FVLMoE 80%; occlusion 90%; FAST+naive 31→14.2.</a:t>
            </a:r>
          </a:p>
          <a:p>
            <a:pPr/>
            <a:r>
              <a:t>• NOT MoPA-PD ancestor. NOT JEPA/WM child. No π₀.₅ bake-off.</a:t>
            </a:r>
          </a:p>
          <a:p>
            <a:pPr/>
            <a:r>
              <a:t>• Typo: 37.3 = w/o F. Pump: naive 83 &gt; ForceVLA 67. No invented BEHAVIOR SR.</a:t>
            </a:r>
          </a:p>
          <a:p>
            <a:pPr/>
            <a:r>
              <a:t>• Visionary use: spine numbers are real Flexiv cites. BEHAVIOR mapping is analogy + research direction — not a paper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BEHAVIOR-class household activities map onto ForceVLA's task suite without claiming a measured BEHAVIOR baseline.</a:t>
            </a:r>
          </a:p>
          <a:p>
            <a:pPr/>
            <a:r>
              <a:t>• Vision-only VLAs inherit open-world strength and still jam when forces/compliance dominate.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Visionary pack table. Mark TENTATIVE hybrid clearly.</a:t>
            </a:r>
          </a:p>
          <a:p>
            <a:pPr/>
            <a:r>
              <a:t>• Tactile skins (TLA/Tac-Man) are parallel modalities — MoE could host them later (TENTATIVE extension).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 recipe, not a paper claim of π₀.₅ gains.</a:t>
            </a:r>
          </a:p>
          <a:p>
            <a:pPr/>
            <a:r>
              <a:t>• Multi-expert specialization for contact vs free-space is a natural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Hardware honesty. Do not pitch ForceVLA for arms that cannot sense wrench.</a:t>
            </a:r>
          </a:p>
          <a:p>
            <a:pPr/>
            <a:r>
              <a:t>• Teleop: Quest3 pattern in Fig.8 — human demos with synced F/T.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Fig.8 Quest3 + Flexiv teleop. 5 expert operators, 5 tasks, varied pose.</a:t>
            </a:r>
          </a:p>
          <a:p>
            <a:pPr/>
            <a:r>
              <a:t>• Visionary follow-up: public F/T datasets for OpenPI π₀ fine-tunes.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Occlusion is the visionary demo reel for BEHAVIOR clutter.</a:t>
            </a:r>
          </a:p>
          <a:p>
            <a:pPr/>
            <a:r>
              <a:t>• Naive force can hurt under shift — fusion quality still matters at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Follow-ups from Visionary pack. Mark research vs paper results.</a:t>
            </a:r>
          </a:p>
          <a:p>
            <a:pPr/>
            <a:r>
              <a:t>• Safe contact under torque limits (Height Gen lesson) is another application thread.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Applications are directional. Preserve Pump caveat if someone asks 'always wins contact'.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exists so Visionary does not accidentally invent a bake-off.</a:t>
            </a:r>
          </a:p>
          <a:p>
            <a:pPr/>
            <a:r>
              <a:t>• Compatible in spirit with OpenPI-style stacks that retain FM.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one-liner from pack.</a:t>
            </a:r>
          </a:p>
          <a:p>
            <a:pPr/>
            <a:r>
              <a:t>• Club Pack complete: all five seats equal depth. No Discord/Drive.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Visionary / end Club Pack. Quiet pipeline — report absolute paths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256032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C8FF"/>
                </a:solidFill>
                <a:latin typeface="IBM Plex Sans"/>
              </a:rPr>
              <a:t>LAST SHEET  ·  ALTERNATIVE APPROACHES  ·  VISIONARY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21792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4F1EA"/>
                </a:solidFill>
                <a:latin typeface="IBM Plex Serif"/>
              </a:rPr>
              <a:t>BEHAVIOR contact-rich
needs wrist force.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1945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8B3C2"/>
                </a:solidFill>
                <a:latin typeface="IBM Plex Sans"/>
              </a:rPr>
              <a:t>Keep the modern VLA/FM controller. Make calibrated 6-axis F/T a first-class late token with sparse expert fusion so insert/wipe/occlusion phases stop being pure vision failures.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3474720"/>
            <a:ext cx="2286000" cy="38404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E8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4747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6A5A"/>
                </a:solidFill>
                <a:latin typeface="IBM Plex Sans"/>
              </a:rPr>
              <a:t>NO Discord / Drive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3474720"/>
            <a:ext cx="2194560" cy="38404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347472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A838"/>
                </a:solidFill>
                <a:latin typeface="IBM Plex Sans"/>
              </a:rPr>
              <a:t>No invented BEHAVIOR SR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3474720"/>
            <a:ext cx="2286000" cy="38404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C4B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34747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B0F5"/>
                </a:solidFill>
                <a:latin typeface="IBM Plex Sans"/>
              </a:rPr>
              <a:t>No π₀.₅ bake-off numbers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3474720"/>
            <a:ext cx="2194560" cy="38404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3E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47472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ECFB4"/>
                </a:solidFill>
                <a:latin typeface="IBM Plex Sans"/>
              </a:rPr>
              <a:t>ForceVLA = 2025 blueprint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4069080"/>
            <a:ext cx="113385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ig4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255" y="4123944"/>
            <a:ext cx="4429873" cy="21762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C8FF"/>
                </a:solidFill>
                <a:latin typeface="IBM Plex Sans"/>
              </a:rPr>
              <a:t>SHARED SPINE  ·  TATTOO ON EVERY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Five facts that do not change with the seat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33856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43584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C8FF"/>
                </a:solidFill>
                <a:latin typeface="IBM Plex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207008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Late 6-axis F/T + FVLMoE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499616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After VLM (PaliGemma/SigLIP): project wrench → force token → FVLMoE (E=4, top-1) → additive guide into π₀ flow-matching action head. Force stays late.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57984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267712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C8FF"/>
                </a:solidFill>
                <a:latin typeface="IBM Plex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231136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Contact-rich on Flexiv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523744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Insert USB / plug, pump bottle, wipe board, peel cucumber. ForceVLA-Data: 244 traj / ~140k steps / ~50 demos per task. Quest3 teleop.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182112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91840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C8FF"/>
                </a:solidFill>
                <a:latin typeface="IBM Plex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255264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Must-cites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547872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Avg 60.5 vs π₀-base w/o F 37.3 (+23.2). Naive w/ F only 40.2 (+2.9). Early MoE-before-VLM 0% → late FVLMoE 80% (Tab.3). Occlusion 90%. FAST+naive force 31.0→14.2.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206240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315968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C8FF"/>
                </a:solidFill>
                <a:latin typeface="IBM Plex Mon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79392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CLEAR contrasts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572000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NOT MoPA-PD ancestor (MoPA = MP privilege→vision student; ForceVLA = deploy force into VLA). NOT JEPA/WM child. No π₀.₅ bake-off — do not invent.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5230368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340096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C8FF"/>
                </a:solidFill>
                <a:latin typeface="IBM Plex Mono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303520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Number hygiene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596128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Typo fix: 37.3 = w/o F (not w/ F). Preserve paper numbers. No invented BEHAVIOR SR. Pump caveat: naive w/F 83 &gt; ForceVLA 67 — do not overclaim.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C8FF"/>
                </a:solidFill>
                <a:latin typeface="IBM Plex Sans"/>
              </a:rPr>
              <a:t>WHY BEHAVIOR CARES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Household activities are dense with contact phases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Insert / seat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Plugs, USB, chargers, appliance connectors. Misalignment + occlusion — Fig.1 failure mode.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6720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6720" y="1170432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9600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Drawers / lids / cabinets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9600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Contact detection + compliant push/pull. Expert routing for free-space vs contact phases.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9391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9391" y="1170432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2271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Wipe / clean / spill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2271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Continuous force maintenance. Wipe Board and peel analogs in ForceVLA-Data.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Crowded counters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Wrist cam occludes contact. Lean on force when vision degrades — Tab.2 occlusion 90% moral.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36720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36720" y="3840480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9600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Food prep force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9600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Peel/cut/press phases. Continuous contact metrics (length↑ / strokes↓), not only binary SR.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9391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9391" y="3840480"/>
            <a:ext cx="64008" cy="2542032"/>
          </a:xfrm>
          <a:prstGeom prst="rect">
            <a:avLst/>
          </a:prstGeom>
          <a:solidFill>
            <a:srgbClr val="A8B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2271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8B3C2"/>
                </a:solidFill>
                <a:latin typeface="IBM Plex Sans"/>
              </a:rPr>
              <a:t>Open-world ≠ contact-solved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2271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π₀ / π₀.₅ semantic strength does not erase wrench-dominated failure modes.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4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C8FF"/>
                </a:solidFill>
                <a:latin typeface="IBM Plex Sans"/>
              </a:rPr>
              <a:t>BLUEPRINT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BEHAVIOR need → ForceVLA-shaped response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097280"/>
            <a:ext cx="11430000" cy="76809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3931920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C8FF"/>
                </a:solidFill>
                <a:latin typeface="IBM Plex Sans"/>
              </a:rPr>
              <a:t>Plug / peg / USB / charger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097280"/>
            <a:ext cx="6858000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F/T-conditioned insert chunks; occlusion robustness (90% moral)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938528"/>
            <a:ext cx="11430000" cy="76809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938528"/>
            <a:ext cx="3931920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CFB4"/>
                </a:solidFill>
                <a:latin typeface="IBM Plex Sans"/>
              </a:rPr>
              <a:t>Drawers / dishwashers / lids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938528"/>
            <a:ext cx="6858000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Contact detection + compliant phases via expert routing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2779776"/>
            <a:ext cx="11430000" cy="76809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779776"/>
            <a:ext cx="3931920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A838"/>
                </a:solidFill>
                <a:latin typeface="IBM Plex Sans"/>
              </a:rPr>
              <a:t>Wiping / cleaning surfaces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779776"/>
            <a:ext cx="6858000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Continuous force maintenance (wipe/peel analogs)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3621024"/>
            <a:ext cx="11430000" cy="76809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21024"/>
            <a:ext cx="3931920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B0F5"/>
                </a:solidFill>
                <a:latin typeface="IBM Plex Sans"/>
              </a:rPr>
              <a:t>Crowded counters / clutter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621024"/>
            <a:ext cx="6858000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Lean on force when wrist cam occludes contact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462272"/>
            <a:ext cx="11430000" cy="76809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462272"/>
            <a:ext cx="3931920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6A5A"/>
                </a:solidFill>
                <a:latin typeface="IBM Plex Sans"/>
              </a:rPr>
              <a:t>Hybrid with π₀.₅ / RTC stacks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462272"/>
            <a:ext cx="6858000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TENTATIVE: HL semantic loop + low-level FM+FVLMoE when wrist F/T present — NOT claimed by paper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5303520"/>
            <a:ext cx="11430000" cy="76809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03520"/>
            <a:ext cx="3931920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8B3C2"/>
                </a:solidFill>
                <a:latin typeface="IBM Plex Sans"/>
              </a:rPr>
              <a:t>Hardware path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303520"/>
            <a:ext cx="6858000" cy="7680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Arms with integrated or retrofit F/T; calibrate; paper's estimated-wrench caveat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5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C8FF"/>
                </a:solidFill>
                <a:latin typeface="IBM Plex Sans"/>
              </a:rPr>
              <a:t>FIG. 3  ·  WHAT TO 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Drop-in late MoE on OpenPI-style FM stacks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7589520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3_fvlmoe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" y="1366229"/>
            <a:ext cx="7479792" cy="475647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92440" y="1115568"/>
            <a:ext cx="3703320" cy="52578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280160"/>
            <a:ext cx="3383280" cy="4937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8EC8FF"/>
                </a:solidFill>
                <a:latin typeface="IBM Plex Sans"/>
              </a:rPr>
              <a:t>Portable idea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FVLMoE block after VLM, before / into FM suffix.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ECFB4"/>
                </a:solidFill>
                <a:latin typeface="IBM Plex Sans"/>
              </a:rPr>
              <a:t>CLEAR compatible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OpenPI π₀ checkpoints that retain FM + F/T datasets.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6A5A"/>
                </a:solidFill>
                <a:latin typeface="IBM Plex Sans"/>
              </a:rPr>
              <a:t>NOT measured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π₀.₅ / KI / RTC numerical gains. Do not invent.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A838"/>
                </a:solidFill>
                <a:latin typeface="IBM Plex Sans"/>
              </a:rPr>
              <a:t>Rule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Force AFTER VLM. Early MoE → 0% moral.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6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C8FF"/>
                </a:solidFill>
                <a:latin typeface="IBM Plex Sans"/>
              </a:rPr>
              <a:t>F/T REQUIREMENTS (PRACTICAL)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What a BEHAVIOR contact stack must stream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6D wrench synced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Time-synced with RGB + proprio (ForceVLA-Data pattern). World/TCP frame consistent.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6720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6720" y="1170432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9600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Latency vs chunk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9600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Wrench must arrive in time for FM chunk conditioning. Watch delay as a future ablation (paper lacks it).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9391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9391" y="1170432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2271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Integrated vs retrofit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2271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Flexiv-class works in-paper. Authors flag lower-cost external F/T as accessibility future 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Estimated wrench caveat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Paper limitation: estimated external wrench today. Prefer high-fid transducers when porting.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36720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36720" y="3840480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9600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Tactile skins parallel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9600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TLA / Tac-Man family — not ForceVLA results. Same MoE could host image+F/T tokens later (TENTATIVE).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9391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9391" y="3840480"/>
            <a:ext cx="64008" cy="2542032"/>
          </a:xfrm>
          <a:prstGeom prst="rect">
            <a:avLst/>
          </a:prstGeom>
          <a:solidFill>
            <a:srgbClr val="A8B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2271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8B3C2"/>
                </a:solidFill>
                <a:latin typeface="IBM Plex Sans"/>
              </a:rPr>
              <a:t>No F/T = blocked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2271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Without a force stream, this blueprint does not apply. Keep vision VLA for free-space language tasks.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7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C8FF"/>
                </a:solidFill>
                <a:latin typeface="IBM Plex Sans"/>
              </a:rPr>
              <a:t>FIG. 8  ·  DATA REALITY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Contact-rich VLAs need sync F/T demos — not OXE alone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15568"/>
            <a:ext cx="7498079" cy="525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8_tele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1" y="1980291"/>
            <a:ext cx="7388352" cy="352835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92440" y="1115568"/>
            <a:ext cx="3703320" cy="52578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280160"/>
            <a:ext cx="3383280" cy="4937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8EC8FF"/>
                </a:solidFill>
                <a:latin typeface="IBM Plex Sans"/>
              </a:rPr>
              <a:t>ForceVLA-Data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F4F1EA"/>
                </a:solidFill>
                <a:latin typeface="IBM Plex Serif"/>
              </a:rPr>
              <a:t>244 traj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ECFB4"/>
                </a:solidFill>
                <a:latin typeface="IBM Plex Sans"/>
              </a:rPr>
              <a:t>~140k steps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A838"/>
                </a:solidFill>
                <a:latin typeface="IBM Plex Sans"/>
              </a:rPr>
              <a:t>~50 demos / task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6A5A"/>
                </a:solidFill>
                <a:latin typeface="IBM Plex Sans"/>
              </a:rPr>
              <a:t>Implication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BEHAVIOR contact suites need wrench-synced teleop or replay — language-only corpora will not unlock FVLMoE.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A8B3C2"/>
                </a:solidFill>
                <a:latin typeface="IBM Plex Sans"/>
              </a:rPr>
              <a:t>Release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Code/data 'will be released' — pin when public.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8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C8FF"/>
                </a:solidFill>
                <a:latin typeface="IBM Plex Sans"/>
              </a:rPr>
              <a:t>OCCLUSION AS THE HOUSEHOLD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When vision fails in clutter — force must carry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115568"/>
            <a:ext cx="73152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6_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" y="1314204"/>
            <a:ext cx="7205472" cy="280312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434840"/>
            <a:ext cx="73152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1_fail_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131" y="4489704"/>
            <a:ext cx="3201017" cy="181051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818120" y="1115568"/>
            <a:ext cx="3977639" cy="52578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1280160"/>
            <a:ext cx="3657600" cy="4937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8EC8FF"/>
                </a:solidFill>
                <a:latin typeface="IBM Plex Sans"/>
              </a:rPr>
              <a:t>Visual Occlusion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4F1EA"/>
                </a:solidFill>
                <a:latin typeface="IBM Plex Serif"/>
              </a:rPr>
              <a:t>90%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ForceVLA vs ≤60% π₀-base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A838"/>
                </a:solidFill>
                <a:latin typeface="IBM Plex Sans"/>
              </a:rPr>
              <a:t>Household read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Cable seating behind furniture; socket under clutter; wrist cam blocked by tool.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6A5A"/>
                </a:solidFill>
                <a:latin typeface="IBM Plex Sans"/>
              </a:rPr>
              <a:t>Still hard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8B3C2"/>
                </a:solidFill>
                <a:latin typeface="IBM Plex Sans"/>
              </a:rPr>
              <a:t>Unstable Socket 20%. Physical instability ≠ solved by force MoE alone.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9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C8FF"/>
                </a:solidFill>
                <a:latin typeface="IBM Plex Sans"/>
              </a:rPr>
              <a:t>FOLLOW-UP RESEARCH DIRECTIONS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Seven threads — none invent paper numbers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2761488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1  Port FVLMoE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2468880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Onto open π₀ / OpenPI with public F/T datasets. Drop-in late block.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3552" y="1170432"/>
            <a:ext cx="2761488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73552" y="1170432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12801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2  High-fid wrench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1572768"/>
            <a:ext cx="2468880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Replace estimated wrench; ablate noise / delay (absent in paper).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170432"/>
            <a:ext cx="2761488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1170432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12801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3  Tactile + F/T MoE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572768"/>
            <a:ext cx="2468880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Add tactile image tokens beside wrench in the same sparse MoE.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170432"/>
            <a:ext cx="2761488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1170432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2801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4  BEHAVIOR contact eval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572768"/>
            <a:ext cx="2468880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Insert / wipe / open categories with forced occlusion. No invented SR here.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3840480"/>
            <a:ext cx="2761488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9502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5  Expert load balance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242816"/>
            <a:ext cx="2468880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Study Expert-0 generalist bias; rare contact events need capacity.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3552" y="3840480"/>
            <a:ext cx="2761488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3552" y="3840480"/>
            <a:ext cx="64008" cy="2542032"/>
          </a:xfrm>
          <a:prstGeom prst="rect">
            <a:avLst/>
          </a:prstGeom>
          <a:solidFill>
            <a:srgbClr val="A8B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56432" y="39502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8B3C2"/>
                </a:solidFill>
                <a:latin typeface="IBM Plex Sans"/>
              </a:rPr>
              <a:t>6  Low-cost retrofit F/T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6432" y="4242816"/>
            <a:ext cx="2468880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Paper's stated accessibility direction on common arms.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63056" y="3840480"/>
            <a:ext cx="2761488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63056" y="3840480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5936" y="39502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7  USB-hard curriculum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5936" y="4242816"/>
            <a:ext cx="2468880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Force alone insufficient for fine alignment (multi-task USB 10%).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3840480"/>
            <a:ext cx="2761488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52560" y="3840480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39502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—  Refuse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4242816"/>
            <a:ext cx="2468880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Discord/Drive packs. Invented BEHAVIOR baseline. Invented π₀.₅ bake-off.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10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C8FF"/>
                </a:solidFill>
                <a:latin typeface="IBM Plex Sans"/>
              </a:rPr>
              <a:t>NEW APPLICATIONS (CAREFUL)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Kitchen / clean / food / occluded seating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Kitchen plugs / appliances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Insert assist with force-corrected seating when sockets are occluded or soft.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6720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6720" y="1170432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9600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Wipe / scrub profiles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9600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Cleaning robots that maintain contact force, not just end-effector paths.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9391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9391" y="1170432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2271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Food prep peel/cut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2271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Force phases for peel/press. Continuous metrics matter (Tab.1 moral).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Occluded cable seating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Behind furniture / under desks — occlusion 90% is the analogy, not a BEHAVIOR score.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36720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36720" y="3840480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9600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Torque-limited depth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9600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Height Gen lesson: scale interaction forces; avoid torque limit violations.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9391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9391" y="3840480"/>
            <a:ext cx="64008" cy="2542032"/>
          </a:xfrm>
          <a:prstGeom prst="rect">
            <a:avLst/>
          </a:prstGeom>
          <a:solidFill>
            <a:srgbClr val="A8B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2271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8B3C2"/>
                </a:solidFill>
                <a:latin typeface="IBM Plex Sans"/>
              </a:rPr>
              <a:t>What not to pitch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2271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Force replacing language grounding. ForceVLA as π₀.₅ replacement. Official BEHAVIOR'26 baseline.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11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C8FF"/>
                </a:solidFill>
                <a:latin typeface="IBM Plex Sans"/>
              </a:rPr>
              <a:t>HYBRID RECIPE (TENTATIVE)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Say the hedge out 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11430000" cy="52120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63040"/>
            <a:ext cx="10972800" cy="4754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8A838"/>
                </a:solidFill>
                <a:latin typeface="IBM Plex Sans"/>
              </a:rPr>
              <a:t>TENTATIVE useful research recipe — NOT a ForceVLA paper claim: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4F1EA"/>
                </a:solidFill>
                <a:latin typeface="IBM Plex Sans"/>
              </a:rPr>
              <a:t>1. Run a π₀.₅-style high-level semantic / open-world loop for language grounding.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4F1EA"/>
                </a:solidFill>
                <a:latin typeface="IBM Plex Sans"/>
              </a:rPr>
              <a:t>2. Keep a low-level FM action expert for chunks.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4F1EA"/>
                </a:solidFill>
                <a:latin typeface="IBM Plex Sans"/>
              </a:rPr>
              <a:t>3. When wrist F/T is present, augment with FVLMoE late force fusion for contact phases.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4F1EA"/>
                </a:solidFill>
                <a:latin typeface="IBM Plex Sans"/>
              </a:rPr>
              <a:t>4. Eval contact categories under occlusion separately from free-space language success.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6A5A"/>
                </a:solidFill>
                <a:latin typeface="IBM Plex Sans"/>
              </a:rPr>
              <a:t>CLEAR: ForceVLA measured force MoE on π₀ FM only. No π₀.₅ / RTC numbers exist to cite.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86A5A"/>
                </a:solidFill>
                <a:latin typeface="IBM Plex Sans"/>
              </a:rPr>
              <a:t>CLEAR: no Discord, no Drive, no invented BEHAVIOR baseline status.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C8FF"/>
                </a:solidFill>
                <a:latin typeface="IBM Plex Sans"/>
              </a:rPr>
              <a:t>ONE-LINER +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2025 blueprint — not a π₀.₅ replacement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11155680" cy="4754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A8B3C2"/>
                </a:solidFill>
                <a:latin typeface="IBM Plex Sans"/>
              </a:rPr>
              <a:t>For BEHAVIOR contact-rich homes, pair modern VLAs with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4F1EA"/>
                </a:solidFill>
                <a:latin typeface="IBM Plex Serif"/>
              </a:rPr>
              <a:t>wrist F/T + late MoE fusion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A8B3C2"/>
                </a:solidFill>
                <a:latin typeface="IBM Plex Sans"/>
              </a:rPr>
              <a:t>so insertion / wipe / occlusion phases stop being pure vision failures.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8EC8FF"/>
                </a:solidFill>
                <a:latin typeface="IBM Plex Serif"/>
              </a:rPr>
              <a:t>ForceVLA is the 2025 blueprint, not a π₀.₅ replacement.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A8B3C2"/>
                </a:solidFill>
                <a:latin typeface="IBM Plex Sans"/>
              </a:rPr>
              <a:t>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8A838"/>
                </a:solidFill>
                <a:latin typeface="IBM Plex Sans"/>
              </a:rPr>
              <a:t>Cite: 60.5 vs 37.3 (+23.2); early MoE 0%; occlusion 90%. Refuse invented BEHAVIOR SR.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ForceVLA  ·  arXiv 2505.22159v3  ·  Alt approaches  ·  LAST sheet  ·  Club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13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C8FF"/>
                </a:solidFill>
                <a:latin typeface="IBM Plex Sans"/>
              </a:rPr>
              <a:t>SHEET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LAST Alt row locked — force-in-VLA on the record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Stakeholder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Buy late MoE when F/T exists. Don't concat-only. FAST+naive hurts.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6720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6720" y="1170432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9600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Reviewer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9600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Late MoE real contrib. Soft USB 10% multi / unstable / no π₀.₅.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9391" y="1170432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9391" y="1170432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2271" y="1280160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Empiricist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2271" y="1572768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Ablation Bot ranks. Smoke ≠ Fig.5. Pump honesty.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Archaeologist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π₀ → late force → FVLMoE → FM. CLEAR vs MoPA / JEPA.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36720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36720" y="3840480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9600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Visionary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9600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BEHAVIOR contact-rich + F/T + late MoE. NO Discord/Drive.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9391" y="3840480"/>
            <a:ext cx="3724656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9391" y="3840480"/>
            <a:ext cx="64008" cy="2542032"/>
          </a:xfrm>
          <a:prstGeom prst="rect">
            <a:avLst/>
          </a:prstGeom>
          <a:solidFill>
            <a:srgbClr val="A8B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2271" y="39502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8B3C2"/>
                </a:solidFill>
                <a:latin typeface="IBM Plex Sans"/>
              </a:rPr>
              <a:t>Shared spine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2271" y="4242816"/>
            <a:ext cx="3432048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60.5 / 37.3 / +23.2 · early 0% · occlusion 90% · not MoPA · not JEPA · no π₀.₅ bake-off.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ForceVLA — Visionary</dc:title>
  <dc:subject>arXiv 2505.22159v3 · Alternative approaches · LAST sheet · Club Pack</dc:subject>
  <dc:creator>Yu*, Liu*, Yu† et al.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