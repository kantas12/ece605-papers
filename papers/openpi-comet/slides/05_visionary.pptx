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Visionary: content only — no Discord/Drive logistics.</a:t>
            </a:r>
          </a:p>
          <a:p>
            <a:r>
              <a:t>Gap story → 2026 edge → follow-up map → don't overclaim.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OpenPI Comet shows foundation VLA + data flywheel + inference mechanics can take 2nd and push Val Q to 0.345, yet leave ~0.61 theoretical headroom and many zero-success long-horizon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Easy tasks near 100% instance ACC; long tail collapses. Aggregated Val Q 0.345, SR 15% across 50 (zeros hidden).</a:t>
            </a:r>
          </a:p>
          <a:p>
            <a:r>
              <a:t>Visual of the hard half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→ 2026 BEHAVIOR: Edge = sample-efficient post-train (DAgger/experts/rewards), skill curriculum, eval-time perception fidelity — NOT opaque longer pretrain alone.</a:t>
            </a:r>
          </a:p>
          <a:p>
            <a:r>
              <a:t>Authors themselves flag denser rewards / privileged experts in conclusion.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FOLLOW-UPS: Privileged DAgger; checkpoint router (oracle→deployable); hard-task curricula; resolution/compute Pareto; sim-to-real of the *recipe* (not just weights).</a:t>
            </a:r>
          </a:p>
          <a:p>
            <a:r>
              <a:t>Empiricist smokes (horizon, control-mode) are the on-ramp.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OVER-CLAIM: Not a new foundation model; not real-robot deployment; household agent not solved.</a:t>
            </a:r>
          </a:p>
          <a:p>
            <a:r>
              <a:t>Honest framing strengthens the 2026 research agenda.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Q&amp;A (~3). No logistics. Keep focus on research bridge.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0F4FC"/>
                </a:solidFill>
                <a:latin typeface="Calibri"/>
              </a:defRPr>
            </a:pPr>
            <a:r>
              <a:t>OpenPI Comet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58A6FF"/>
                </a:solidFill>
                <a:latin typeface="Calibri"/>
              </a:defRPr>
            </a:pPr>
            <a:r>
              <a:t>Visionary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A0AABE"/>
                </a:solidFill>
                <a:latin typeface="Calibri"/>
              </a:defRPr>
            </a:pPr>
            <a:r>
              <a:t>2026 BEHAVIOR bridge + follow-ups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AB4C"/>
                </a:solidFill>
              </a:defRPr>
            </a:pPr>
            <a:r>
              <a:t>11+3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0AABE"/>
                </a:solidFill>
              </a:defRPr>
            </a:pPr>
            <a:r>
              <a:t>arXiv 2512.10071  ·  BEHAVIOR Challenge 2025  ·  smoke-run paper club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F4FC"/>
                </a:solidFill>
                <a:latin typeface="Calibri"/>
              </a:defRPr>
            </a:pPr>
            <a:r>
              <a:t>Gap story — 22/50 · 0.345 → 0.611</a:t>
            </a:r>
          </a:p>
        </p:txBody>
      </p:sp>
      <p:pic>
        <p:nvPicPr>
          <p:cNvPr id="4" name="Picture 3" descr="gen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927" y="777240"/>
            <a:ext cx="1040384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F4FC"/>
                </a:solidFill>
                <a:latin typeface="Calibri"/>
              </a:defRPr>
            </a:pPr>
            <a:r>
              <a:t>Per-task instance accuracy (Fig 4)</a:t>
            </a:r>
          </a:p>
        </p:txBody>
      </p:sp>
      <p:pic>
        <p:nvPicPr>
          <p:cNvPr id="4" name="Picture 3" descr="crop_fi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39" y="777240"/>
            <a:ext cx="11551615" cy="48638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F4FC"/>
                </a:solidFill>
                <a:latin typeface="Calibri"/>
              </a:defRPr>
            </a:pPr>
            <a:r>
              <a:t>2026 edge</a:t>
            </a:r>
          </a:p>
        </p:txBody>
      </p:sp>
      <p:pic>
        <p:nvPicPr>
          <p:cNvPr id="4" name="Picture 3" descr="gen_2026_e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927" y="777240"/>
            <a:ext cx="1040384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F4FC"/>
                </a:solidFill>
                <a:latin typeface="Calibri"/>
              </a:defRPr>
            </a:pPr>
            <a:r>
              <a:t>Follow-up map</a:t>
            </a:r>
          </a:p>
        </p:txBody>
      </p:sp>
      <p:pic>
        <p:nvPicPr>
          <p:cNvPr id="4" name="Picture 3" descr="gen_followu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927" y="777240"/>
            <a:ext cx="1040384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F4FC"/>
                </a:solidFill>
                <a:latin typeface="Calibri"/>
              </a:defRPr>
            </a:pPr>
            <a:r>
              <a:t>Don't over-claim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22860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FFAB4C"/>
                </a:solidFill>
              </a:defRPr>
            </a:pPr>
            <a:r>
              <a:t>11+3</a:t>
            </a:r>
          </a:p>
        </p:txBody>
      </p:sp>
      <p:pic>
        <p:nvPicPr>
          <p:cNvPr id="5" name="Picture 4" descr="gen_dont_overcla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927" y="777240"/>
            <a:ext cx="1040384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8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0F4FC"/>
                </a:solidFill>
              </a:defRPr>
            </a:pPr>
            <a:r>
              <a:t>Close 0.345→0.611 with better post-train — not just more pretrain.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AB4C"/>
                </a:solidFill>
              </a:defRPr>
            </a:pPr>
            <a:r>
              <a:t>Q&amp;A  ·  timing 11+3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